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t-cover.png"/>
          <p:cNvPicPr>
            <a:picLocks noChangeAspect="1"/>
          </p:cNvPicPr>
          <p:nvPr/>
        </p:nvPicPr>
        <p:blipFill>
          <a:blip r:embed="rId2"/>
          <a:stretch>
            <a:fillRect/>
          </a:stretch>
        </p:blipFill>
        <p:spPr>
          <a:xfrm>
            <a:off x="8858250" y="2381250"/>
            <a:ext cx="2286000" cy="1905000"/>
          </a:xfrm>
          <a:prstGeom prst="rect">
            <a:avLst/>
          </a:prstGeom>
        </p:spPr>
      </p:pic>
      <p:sp>
        <p:nvSpPr>
          <p:cNvPr id="3" name="TextBox 2"/>
          <p:cNvSpPr txBox="1"/>
          <p:nvPr/>
        </p:nvSpPr>
        <p:spPr>
          <a:xfrm>
            <a:off x="609600" y="2400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AI-FIRST DELIVERY PARTNERSHIP</a:t>
            </a:r>
          </a:p>
        </p:txBody>
      </p:sp>
      <p:sp>
        <p:nvSpPr>
          <p:cNvPr id="4" name="TextBox 3"/>
          <p:cNvSpPr txBox="1"/>
          <p:nvPr/>
        </p:nvSpPr>
        <p:spPr>
          <a:xfrm>
            <a:off x="609600" y="2590800"/>
            <a:ext cx="7810500" cy="762000"/>
          </a:xfrm>
          <a:prstGeom prst="rect">
            <a:avLst/>
          </a:prstGeom>
          <a:noFill/>
        </p:spPr>
        <p:txBody>
          <a:bodyPr wrap="square" lIns="0" rIns="0" tIns="0" bIns="0" anchor="t">
            <a:spAutoFit/>
          </a:bodyPr>
          <a:lstStyle/>
          <a:p>
            <a:pPr>
              <a:lnSpc>
                <a:spcPct val="102000"/>
              </a:lnSpc>
            </a:pPr>
            <a:r>
              <a:rPr sz="4800" b="1">
                <a:solidFill>
                  <a:srgbClr val="0A0A1A"/>
                </a:solidFill>
                <a:latin typeface="Arial"/>
              </a:rPr>
              <a:t>Trinly × ArtSync</a:t>
            </a:r>
          </a:p>
        </p:txBody>
      </p:sp>
      <p:sp>
        <p:nvSpPr>
          <p:cNvPr id="5" name="TextBox 4"/>
          <p:cNvSpPr txBox="1"/>
          <p:nvPr/>
        </p:nvSpPr>
        <p:spPr>
          <a:xfrm>
            <a:off x="609600" y="3486150"/>
            <a:ext cx="7239000" cy="323850"/>
          </a:xfrm>
          <a:prstGeom prst="rect">
            <a:avLst/>
          </a:prstGeom>
          <a:noFill/>
        </p:spPr>
        <p:txBody>
          <a:bodyPr wrap="square" lIns="0" rIns="0" tIns="0" bIns="0" anchor="t">
            <a:spAutoFit/>
          </a:bodyPr>
          <a:lstStyle/>
          <a:p>
            <a:pPr>
              <a:lnSpc>
                <a:spcPct val="120000"/>
              </a:lnSpc>
            </a:pPr>
            <a:r>
              <a:rPr sz="1575" b="1">
                <a:solidFill>
                  <a:srgbClr val="4F46E5"/>
                </a:solidFill>
                <a:latin typeface="Arial"/>
              </a:rPr>
              <a:t>Work Portfolio — AI systems we have designed, built and shipped</a:t>
            </a:r>
          </a:p>
        </p:txBody>
      </p:sp>
      <p:sp>
        <p:nvSpPr>
          <p:cNvPr id="6" name="TextBox 5"/>
          <p:cNvSpPr txBox="1"/>
          <p:nvPr/>
        </p:nvSpPr>
        <p:spPr>
          <a:xfrm>
            <a:off x="609600" y="3905250"/>
            <a:ext cx="5905500" cy="666750"/>
          </a:xfrm>
          <a:prstGeom prst="rect">
            <a:avLst/>
          </a:prstGeom>
          <a:noFill/>
        </p:spPr>
        <p:txBody>
          <a:bodyPr wrap="square" lIns="0" rIns="0" tIns="0" bIns="0" anchor="t">
            <a:spAutoFit/>
          </a:bodyPr>
          <a:lstStyle/>
          <a:p>
            <a:pPr>
              <a:lnSpc>
                <a:spcPct val="155000"/>
              </a:lnSpc>
            </a:pPr>
            <a:r>
              <a:rPr sz="1087" b="0">
                <a:solidFill>
                  <a:srgbClr val="64648A"/>
                </a:solidFill>
                <a:latin typeface="Arial"/>
              </a:rPr>
              <a:t>Five production platforms across clinical trials, drone inspection, railway safety, enterprise integrity and commercial web — plus the full service and support capability behind them.</a:t>
            </a:r>
          </a:p>
        </p:txBody>
      </p:sp>
      <p:sp>
        <p:nvSpPr>
          <p:cNvPr id="7" name="TextBox 6"/>
          <p:cNvSpPr txBox="1"/>
          <p:nvPr/>
        </p:nvSpPr>
        <p:spPr>
          <a:xfrm>
            <a:off x="609600" y="5791200"/>
            <a:ext cx="6667500" cy="571500"/>
          </a:xfrm>
          <a:prstGeom prst="rect">
            <a:avLst/>
          </a:prstGeom>
          <a:noFill/>
        </p:spPr>
        <p:txBody>
          <a:bodyPr wrap="square" lIns="0" rIns="0" tIns="0" bIns="0" anchor="t">
            <a:spAutoFit/>
          </a:bodyPr>
          <a:lstStyle/>
          <a:p>
            <a:pPr>
              <a:lnSpc>
                <a:spcPct val="150000"/>
              </a:lnSpc>
            </a:pPr>
            <a:r>
              <a:rPr sz="862" b="0" spc="60">
                <a:solidFill>
                  <a:srgbClr val="64648A"/>
                </a:solidFill>
                <a:latin typeface="Courier New"/>
              </a:rPr>
              <a:t>Ashish Tyagi — Founder &amp; CEO</a:t>
            </a:r>
          </a:p>
          <a:p>
            <a:pPr>
              <a:lnSpc>
                <a:spcPct val="150000"/>
              </a:lnSpc>
            </a:pPr>
            <a:r>
              <a:rPr sz="862" b="0" spc="60">
                <a:solidFill>
                  <a:srgbClr val="64648A"/>
                </a:solidFill>
                <a:latin typeface="Courier New"/>
              </a:rPr>
              <a:t>hello@trinly.us  ·  hello@artsync.live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01</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Who we are</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One allied delivery group covering the complete path from raw data to a production AI product — senior strategy from the US and Europe, deep engineering and data capacity from India.</a:t>
            </a:r>
          </a:p>
        </p:txBody>
      </p:sp>
      <p:sp>
        <p:nvSpPr>
          <p:cNvPr id="6" name="Rounded Rectangle 5"/>
          <p:cNvSpPr/>
          <p:nvPr/>
        </p:nvSpPr>
        <p:spPr>
          <a:xfrm>
            <a:off x="609600" y="2038350"/>
            <a:ext cx="5334000" cy="3048000"/>
          </a:xfrm>
          <a:prstGeom prst="roundRect">
            <a:avLst>
              <a:gd name="adj" fmla="val 5000"/>
            </a:avLst>
          </a:prstGeom>
          <a:solidFill>
            <a:srgbClr val="FBFAFE"/>
          </a:solidFill>
          <a:ln w="13970">
            <a:solidFill>
              <a:srgbClr val="E0E0EC"/>
            </a:solidFill>
          </a:ln>
          <a:effectLst/>
        </p:spPr>
        <p:txBody>
          <a:bodyPr rtlCol="0" anchor="ctr" wrap="square"/>
          <a:lstStyle/>
          <a:p>
            <a:pPr algn="ctr"/>
          </a:p>
        </p:txBody>
      </p:sp>
      <p:sp>
        <p:nvSpPr>
          <p:cNvPr id="7" name="TextBox 6"/>
          <p:cNvSpPr txBox="1"/>
          <p:nvPr/>
        </p:nvSpPr>
        <p:spPr>
          <a:xfrm>
            <a:off x="857250" y="2266950"/>
            <a:ext cx="4762500" cy="342900"/>
          </a:xfrm>
          <a:prstGeom prst="rect">
            <a:avLst/>
          </a:prstGeom>
          <a:noFill/>
        </p:spPr>
        <p:txBody>
          <a:bodyPr wrap="square" lIns="0" rIns="0" tIns="0" bIns="0" anchor="t">
            <a:spAutoFit/>
          </a:bodyPr>
          <a:lstStyle/>
          <a:p>
            <a:pPr>
              <a:lnSpc>
                <a:spcPct val="135000"/>
              </a:lnSpc>
            </a:pPr>
            <a:r>
              <a:rPr sz="1950" b="1">
                <a:solidFill>
                  <a:srgbClr val="0A0A1A"/>
                </a:solidFill>
                <a:latin typeface="Arial"/>
              </a:rPr>
              <a:t>Trinly</a:t>
            </a:r>
          </a:p>
        </p:txBody>
      </p:sp>
      <p:sp>
        <p:nvSpPr>
          <p:cNvPr id="8" name="Rounded Rectangle 7"/>
          <p:cNvSpPr/>
          <p:nvPr/>
        </p:nvSpPr>
        <p:spPr>
          <a:xfrm>
            <a:off x="857250" y="2724150"/>
            <a:ext cx="1419225" cy="247650"/>
          </a:xfrm>
          <a:prstGeom prst="roundRect">
            <a:avLst>
              <a:gd name="adj" fmla="val 46153"/>
            </a:avLst>
          </a:prstGeom>
          <a:solidFill>
            <a:srgbClr val="FFFFFF"/>
          </a:solidFill>
          <a:ln w="13970">
            <a:solidFill>
              <a:srgbClr val="D8CFF8"/>
            </a:solidFill>
          </a:ln>
          <a:effectLst/>
        </p:spPr>
        <p:txBody>
          <a:bodyPr rtlCol="0" anchor="ctr" wrap="square" lIns="0" rIns="0" tIns="0" bIns="0"/>
          <a:lstStyle/>
          <a:p>
            <a:pPr algn="ctr">
              <a:lnSpc>
                <a:spcPct val="135000"/>
              </a:lnSpc>
            </a:pPr>
            <a:r>
              <a:rPr sz="600" b="1" spc="90">
                <a:solidFill>
                  <a:srgbClr val="7C3AED"/>
                </a:solidFill>
                <a:latin typeface="Courier New"/>
              </a:rPr>
              <a:t>US · AI CONSULTANCY</a:t>
            </a:r>
          </a:p>
        </p:txBody>
      </p:sp>
      <p:sp>
        <p:nvSpPr>
          <p:cNvPr id="9" name="TextBox 8"/>
          <p:cNvSpPr txBox="1"/>
          <p:nvPr/>
        </p:nvSpPr>
        <p:spPr>
          <a:xfrm>
            <a:off x="857250" y="3105150"/>
            <a:ext cx="4762500" cy="1143000"/>
          </a:xfrm>
          <a:prstGeom prst="rect">
            <a:avLst/>
          </a:prstGeom>
          <a:noFill/>
        </p:spPr>
        <p:txBody>
          <a:bodyPr wrap="square" lIns="0" rIns="0" tIns="0" bIns="0" anchor="t">
            <a:spAutoFit/>
          </a:bodyPr>
          <a:lstStyle/>
          <a:p>
            <a:pPr>
              <a:lnSpc>
                <a:spcPct val="155000"/>
              </a:lnSpc>
            </a:pPr>
            <a:r>
              <a:rPr sz="975" b="0">
                <a:solidFill>
                  <a:srgbClr val="64648A"/>
                </a:solidFill>
                <a:latin typeface="Arial"/>
              </a:rPr>
              <a:t>AI-first technology consultancy turning AI ambitions into shipped, production-ready products — RAG systems, model training, AI agents and MLOps. Architecture, strategy and delivery leadership.</a:t>
            </a:r>
          </a:p>
        </p:txBody>
      </p:sp>
      <p:sp>
        <p:nvSpPr>
          <p:cNvPr id="10" name="TextBox 9"/>
          <p:cNvSpPr txBox="1"/>
          <p:nvPr/>
        </p:nvSpPr>
        <p:spPr>
          <a:xfrm>
            <a:off x="857250" y="4362450"/>
            <a:ext cx="4762500" cy="190500"/>
          </a:xfrm>
          <a:prstGeom prst="rect">
            <a:avLst/>
          </a:prstGeom>
          <a:noFill/>
        </p:spPr>
        <p:txBody>
          <a:bodyPr wrap="square" lIns="0" rIns="0" tIns="0" bIns="0" anchor="t">
            <a:spAutoFit/>
          </a:bodyPr>
          <a:lstStyle/>
          <a:p>
            <a:pPr>
              <a:lnSpc>
                <a:spcPct val="135000"/>
              </a:lnSpc>
            </a:pPr>
            <a:r>
              <a:rPr sz="825" b="0" spc="40">
                <a:solidFill>
                  <a:srgbClr val="4F46E5"/>
                </a:solidFill>
                <a:latin typeface="Courier New"/>
              </a:rPr>
              <a:t>trinly.us</a:t>
            </a:r>
          </a:p>
        </p:txBody>
      </p:sp>
      <p:sp>
        <p:nvSpPr>
          <p:cNvPr id="11" name="Rounded Rectangle 10"/>
          <p:cNvSpPr/>
          <p:nvPr/>
        </p:nvSpPr>
        <p:spPr>
          <a:xfrm>
            <a:off x="6248400" y="2038350"/>
            <a:ext cx="5334000" cy="3048000"/>
          </a:xfrm>
          <a:prstGeom prst="roundRect">
            <a:avLst>
              <a:gd name="adj" fmla="val 5000"/>
            </a:avLst>
          </a:prstGeom>
          <a:solidFill>
            <a:srgbClr val="FBFAFE"/>
          </a:solidFill>
          <a:ln w="13970">
            <a:solidFill>
              <a:srgbClr val="E0E0EC"/>
            </a:solidFill>
          </a:ln>
          <a:effectLst/>
        </p:spPr>
        <p:txBody>
          <a:bodyPr rtlCol="0" anchor="ctr" wrap="square"/>
          <a:lstStyle/>
          <a:p>
            <a:pPr algn="ctr"/>
          </a:p>
        </p:txBody>
      </p:sp>
      <p:sp>
        <p:nvSpPr>
          <p:cNvPr id="12" name="TextBox 11"/>
          <p:cNvSpPr txBox="1"/>
          <p:nvPr/>
        </p:nvSpPr>
        <p:spPr>
          <a:xfrm>
            <a:off x="6496050" y="2266950"/>
            <a:ext cx="4762500" cy="342900"/>
          </a:xfrm>
          <a:prstGeom prst="rect">
            <a:avLst/>
          </a:prstGeom>
          <a:noFill/>
        </p:spPr>
        <p:txBody>
          <a:bodyPr wrap="square" lIns="0" rIns="0" tIns="0" bIns="0" anchor="t">
            <a:spAutoFit/>
          </a:bodyPr>
          <a:lstStyle/>
          <a:p>
            <a:pPr>
              <a:lnSpc>
                <a:spcPct val="135000"/>
              </a:lnSpc>
            </a:pPr>
            <a:r>
              <a:rPr sz="1950" b="1">
                <a:solidFill>
                  <a:srgbClr val="0A0A1A"/>
                </a:solidFill>
                <a:latin typeface="Arial"/>
              </a:rPr>
              <a:t>ArtSync India</a:t>
            </a:r>
          </a:p>
        </p:txBody>
      </p:sp>
      <p:sp>
        <p:nvSpPr>
          <p:cNvPr id="13" name="Rounded Rectangle 12"/>
          <p:cNvSpPr/>
          <p:nvPr/>
        </p:nvSpPr>
        <p:spPr>
          <a:xfrm>
            <a:off x="6496050" y="2724150"/>
            <a:ext cx="2152650" cy="247650"/>
          </a:xfrm>
          <a:prstGeom prst="roundRect">
            <a:avLst>
              <a:gd name="adj" fmla="val 46153"/>
            </a:avLst>
          </a:prstGeom>
          <a:solidFill>
            <a:srgbClr val="FFFFFF"/>
          </a:solidFill>
          <a:ln w="13970">
            <a:solidFill>
              <a:srgbClr val="D8CFF8"/>
            </a:solidFill>
          </a:ln>
          <a:effectLst/>
        </p:spPr>
        <p:txBody>
          <a:bodyPr rtlCol="0" anchor="ctr" wrap="square" lIns="0" rIns="0" tIns="0" bIns="0"/>
          <a:lstStyle/>
          <a:p>
            <a:pPr algn="ctr">
              <a:lnSpc>
                <a:spcPct val="135000"/>
              </a:lnSpc>
            </a:pPr>
            <a:r>
              <a:rPr sz="600" b="1" spc="90">
                <a:solidFill>
                  <a:srgbClr val="7C3AED"/>
                </a:solidFill>
                <a:latin typeface="Courier New"/>
              </a:rPr>
              <a:t>INDIA · AI &amp; DATA INTELLIGENCE</a:t>
            </a:r>
          </a:p>
        </p:txBody>
      </p:sp>
      <p:sp>
        <p:nvSpPr>
          <p:cNvPr id="14" name="TextBox 13"/>
          <p:cNvSpPr txBox="1"/>
          <p:nvPr/>
        </p:nvSpPr>
        <p:spPr>
          <a:xfrm>
            <a:off x="6496050" y="3105150"/>
            <a:ext cx="4762500" cy="1143000"/>
          </a:xfrm>
          <a:prstGeom prst="rect">
            <a:avLst/>
          </a:prstGeom>
          <a:noFill/>
        </p:spPr>
        <p:txBody>
          <a:bodyPr wrap="square" lIns="0" rIns="0" tIns="0" bIns="0" anchor="t">
            <a:spAutoFit/>
          </a:bodyPr>
          <a:lstStyle/>
          <a:p>
            <a:pPr>
              <a:lnSpc>
                <a:spcPct val="155000"/>
              </a:lnSpc>
            </a:pPr>
            <a:r>
              <a:rPr sz="975" b="0">
                <a:solidFill>
                  <a:srgbClr val="64648A"/>
                </a:solidFill>
                <a:latin typeface="Arial"/>
              </a:rPr>
              <a:t>AI development, data intelligence and annotation at scale — data engineering, ML/LLM engineering, automation, enterprise applications and ongoing IT support from six hubs across India.</a:t>
            </a:r>
          </a:p>
        </p:txBody>
      </p:sp>
      <p:sp>
        <p:nvSpPr>
          <p:cNvPr id="15" name="TextBox 14"/>
          <p:cNvSpPr txBox="1"/>
          <p:nvPr/>
        </p:nvSpPr>
        <p:spPr>
          <a:xfrm>
            <a:off x="6496050" y="4362450"/>
            <a:ext cx="4762500" cy="190500"/>
          </a:xfrm>
          <a:prstGeom prst="rect">
            <a:avLst/>
          </a:prstGeom>
          <a:noFill/>
        </p:spPr>
        <p:txBody>
          <a:bodyPr wrap="square" lIns="0" rIns="0" tIns="0" bIns="0" anchor="t">
            <a:spAutoFit/>
          </a:bodyPr>
          <a:lstStyle/>
          <a:p>
            <a:pPr>
              <a:lnSpc>
                <a:spcPct val="135000"/>
              </a:lnSpc>
            </a:pPr>
            <a:r>
              <a:rPr sz="825" b="0" spc="40">
                <a:solidFill>
                  <a:srgbClr val="4F46E5"/>
                </a:solidFill>
                <a:latin typeface="Courier New"/>
              </a:rPr>
              <a:t>artsync.live</a:t>
            </a:r>
          </a:p>
        </p:txBody>
      </p:sp>
      <p:sp>
        <p:nvSpPr>
          <p:cNvPr id="16" name="TextBox 15"/>
          <p:cNvSpPr txBox="1"/>
          <p:nvPr/>
        </p:nvSpPr>
        <p:spPr>
          <a:xfrm>
            <a:off x="609600" y="5505450"/>
            <a:ext cx="1714500" cy="419100"/>
          </a:xfrm>
          <a:prstGeom prst="rect">
            <a:avLst/>
          </a:prstGeom>
          <a:noFill/>
        </p:spPr>
        <p:txBody>
          <a:bodyPr wrap="square" lIns="0" rIns="0" tIns="0" bIns="0" anchor="t">
            <a:spAutoFit/>
          </a:bodyPr>
          <a:lstStyle/>
          <a:p>
            <a:pPr>
              <a:lnSpc>
                <a:spcPct val="100000"/>
              </a:lnSpc>
            </a:pPr>
            <a:r>
              <a:rPr sz="2700" b="1">
                <a:solidFill>
                  <a:srgbClr val="7C3AED"/>
                </a:solidFill>
                <a:latin typeface="Arial"/>
              </a:rPr>
              <a:t>17+</a:t>
            </a:r>
          </a:p>
        </p:txBody>
      </p:sp>
      <p:sp>
        <p:nvSpPr>
          <p:cNvPr id="17" name="TextBox 16"/>
          <p:cNvSpPr txBox="1"/>
          <p:nvPr/>
        </p:nvSpPr>
        <p:spPr>
          <a:xfrm>
            <a:off x="609600" y="5962650"/>
            <a:ext cx="1714500" cy="190500"/>
          </a:xfrm>
          <a:prstGeom prst="rect">
            <a:avLst/>
          </a:prstGeom>
          <a:noFill/>
        </p:spPr>
        <p:txBody>
          <a:bodyPr wrap="square" lIns="0" rIns="0" tIns="0" bIns="0" anchor="t">
            <a:spAutoFit/>
          </a:bodyPr>
          <a:lstStyle/>
          <a:p>
            <a:pPr>
              <a:lnSpc>
                <a:spcPct val="135000"/>
              </a:lnSpc>
            </a:pPr>
            <a:r>
              <a:rPr sz="862" b="0">
                <a:solidFill>
                  <a:srgbClr val="64648A"/>
                </a:solidFill>
                <a:latin typeface="Arial"/>
              </a:rPr>
              <a:t>AI engineers &amp; architects</a:t>
            </a:r>
          </a:p>
        </p:txBody>
      </p:sp>
      <p:sp>
        <p:nvSpPr>
          <p:cNvPr id="18" name="TextBox 17"/>
          <p:cNvSpPr txBox="1"/>
          <p:nvPr/>
        </p:nvSpPr>
        <p:spPr>
          <a:xfrm>
            <a:off x="2419350" y="5505450"/>
            <a:ext cx="1714500" cy="419100"/>
          </a:xfrm>
          <a:prstGeom prst="rect">
            <a:avLst/>
          </a:prstGeom>
          <a:noFill/>
        </p:spPr>
        <p:txBody>
          <a:bodyPr wrap="square" lIns="0" rIns="0" tIns="0" bIns="0" anchor="t">
            <a:spAutoFit/>
          </a:bodyPr>
          <a:lstStyle/>
          <a:p>
            <a:pPr>
              <a:lnSpc>
                <a:spcPct val="100000"/>
              </a:lnSpc>
            </a:pPr>
            <a:r>
              <a:rPr sz="2700" b="1">
                <a:solidFill>
                  <a:srgbClr val="7C3AED"/>
                </a:solidFill>
                <a:latin typeface="Arial"/>
              </a:rPr>
              <a:t>6</a:t>
            </a:r>
          </a:p>
        </p:txBody>
      </p:sp>
      <p:sp>
        <p:nvSpPr>
          <p:cNvPr id="19" name="TextBox 18"/>
          <p:cNvSpPr txBox="1"/>
          <p:nvPr/>
        </p:nvSpPr>
        <p:spPr>
          <a:xfrm>
            <a:off x="2419350" y="5962650"/>
            <a:ext cx="1714500" cy="190500"/>
          </a:xfrm>
          <a:prstGeom prst="rect">
            <a:avLst/>
          </a:prstGeom>
          <a:noFill/>
        </p:spPr>
        <p:txBody>
          <a:bodyPr wrap="square" lIns="0" rIns="0" tIns="0" bIns="0" anchor="t">
            <a:spAutoFit/>
          </a:bodyPr>
          <a:lstStyle/>
          <a:p>
            <a:pPr>
              <a:lnSpc>
                <a:spcPct val="135000"/>
              </a:lnSpc>
            </a:pPr>
            <a:r>
              <a:rPr sz="862" b="0">
                <a:solidFill>
                  <a:srgbClr val="64648A"/>
                </a:solidFill>
                <a:latin typeface="Arial"/>
              </a:rPr>
              <a:t>Global delivery hubs</a:t>
            </a:r>
          </a:p>
        </p:txBody>
      </p:sp>
      <p:sp>
        <p:nvSpPr>
          <p:cNvPr id="20" name="TextBox 19"/>
          <p:cNvSpPr txBox="1"/>
          <p:nvPr/>
        </p:nvSpPr>
        <p:spPr>
          <a:xfrm>
            <a:off x="4229100" y="5505450"/>
            <a:ext cx="1714500" cy="419100"/>
          </a:xfrm>
          <a:prstGeom prst="rect">
            <a:avLst/>
          </a:prstGeom>
          <a:noFill/>
        </p:spPr>
        <p:txBody>
          <a:bodyPr wrap="square" lIns="0" rIns="0" tIns="0" bIns="0" anchor="t">
            <a:spAutoFit/>
          </a:bodyPr>
          <a:lstStyle/>
          <a:p>
            <a:pPr>
              <a:lnSpc>
                <a:spcPct val="100000"/>
              </a:lnSpc>
            </a:pPr>
            <a:r>
              <a:rPr sz="2700" b="1">
                <a:solidFill>
                  <a:srgbClr val="7C3AED"/>
                </a:solidFill>
                <a:latin typeface="Arial"/>
              </a:rPr>
              <a:t>5</a:t>
            </a:r>
          </a:p>
        </p:txBody>
      </p:sp>
      <p:sp>
        <p:nvSpPr>
          <p:cNvPr id="21" name="TextBox 20"/>
          <p:cNvSpPr txBox="1"/>
          <p:nvPr/>
        </p:nvSpPr>
        <p:spPr>
          <a:xfrm>
            <a:off x="4229100" y="5962650"/>
            <a:ext cx="1714500" cy="190500"/>
          </a:xfrm>
          <a:prstGeom prst="rect">
            <a:avLst/>
          </a:prstGeom>
          <a:noFill/>
        </p:spPr>
        <p:txBody>
          <a:bodyPr wrap="square" lIns="0" rIns="0" tIns="0" bIns="0" anchor="t">
            <a:spAutoFit/>
          </a:bodyPr>
          <a:lstStyle/>
          <a:p>
            <a:pPr>
              <a:lnSpc>
                <a:spcPct val="135000"/>
              </a:lnSpc>
            </a:pPr>
            <a:r>
              <a:rPr sz="862" b="0">
                <a:solidFill>
                  <a:srgbClr val="64648A"/>
                </a:solidFill>
                <a:latin typeface="Arial"/>
              </a:rPr>
              <a:t>Countries</a:t>
            </a:r>
          </a:p>
        </p:txBody>
      </p:sp>
      <p:sp>
        <p:nvSpPr>
          <p:cNvPr id="22" name="TextBox 21"/>
          <p:cNvSpPr txBox="1"/>
          <p:nvPr/>
        </p:nvSpPr>
        <p:spPr>
          <a:xfrm>
            <a:off x="6038850" y="5505450"/>
            <a:ext cx="1714500" cy="419100"/>
          </a:xfrm>
          <a:prstGeom prst="rect">
            <a:avLst/>
          </a:prstGeom>
          <a:noFill/>
        </p:spPr>
        <p:txBody>
          <a:bodyPr wrap="square" lIns="0" rIns="0" tIns="0" bIns="0" anchor="t">
            <a:spAutoFit/>
          </a:bodyPr>
          <a:lstStyle/>
          <a:p>
            <a:pPr>
              <a:lnSpc>
                <a:spcPct val="100000"/>
              </a:lnSpc>
            </a:pPr>
            <a:r>
              <a:rPr sz="2700" b="1">
                <a:solidFill>
                  <a:srgbClr val="7C3AED"/>
                </a:solidFill>
                <a:latin typeface="Arial"/>
              </a:rPr>
              <a:t>24/7</a:t>
            </a:r>
          </a:p>
        </p:txBody>
      </p:sp>
      <p:sp>
        <p:nvSpPr>
          <p:cNvPr id="23" name="TextBox 22"/>
          <p:cNvSpPr txBox="1"/>
          <p:nvPr/>
        </p:nvSpPr>
        <p:spPr>
          <a:xfrm>
            <a:off x="6038850" y="5962650"/>
            <a:ext cx="1714500" cy="190500"/>
          </a:xfrm>
          <a:prstGeom prst="rect">
            <a:avLst/>
          </a:prstGeom>
          <a:noFill/>
        </p:spPr>
        <p:txBody>
          <a:bodyPr wrap="square" lIns="0" rIns="0" tIns="0" bIns="0" anchor="t">
            <a:spAutoFit/>
          </a:bodyPr>
          <a:lstStyle/>
          <a:p>
            <a:pPr>
              <a:lnSpc>
                <a:spcPct val="135000"/>
              </a:lnSpc>
            </a:pPr>
            <a:r>
              <a:rPr sz="862" b="0">
                <a:solidFill>
                  <a:srgbClr val="64648A"/>
                </a:solidFill>
                <a:latin typeface="Arial"/>
              </a:rPr>
              <a:t>Follow-the-sun coverage</a:t>
            </a:r>
          </a:p>
        </p:txBody>
      </p:sp>
      <p:sp>
        <p:nvSpPr>
          <p:cNvPr id="24" name="TextBox 23"/>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5" name="TextBox 24"/>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02</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What we do</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Eight capabilities, each one demonstrated by a project later in this deck.</a:t>
            </a:r>
          </a:p>
        </p:txBody>
      </p:sp>
      <p:sp>
        <p:nvSpPr>
          <p:cNvPr id="6" name="Rounded Rectangle 5"/>
          <p:cNvSpPr/>
          <p:nvPr/>
        </p:nvSpPr>
        <p:spPr>
          <a:xfrm>
            <a:off x="609600"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7" name="TextBox 6"/>
          <p:cNvSpPr txBox="1"/>
          <p:nvPr/>
        </p:nvSpPr>
        <p:spPr>
          <a:xfrm>
            <a:off x="800100"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RAG &amp; retrieval systems</a:t>
            </a:r>
          </a:p>
          <a:p>
            <a:pPr>
              <a:lnSpc>
                <a:spcPct val="150000"/>
              </a:lnSpc>
            </a:pPr>
            <a:r>
              <a:rPr sz="930" b="0">
                <a:solidFill>
                  <a:srgbClr val="64648A"/>
                </a:solidFill>
                <a:latin typeface="Arial"/>
              </a:rPr>
              <a:t>Production retrieval pipelines with vector search, semantic precedent lookup and context-aware grounding.</a:t>
            </a:r>
          </a:p>
        </p:txBody>
      </p:sp>
      <p:sp>
        <p:nvSpPr>
          <p:cNvPr id="8" name="Rounded Rectangle 7"/>
          <p:cNvSpPr/>
          <p:nvPr/>
        </p:nvSpPr>
        <p:spPr>
          <a:xfrm>
            <a:off x="3386138"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9" name="TextBox 8"/>
          <p:cNvSpPr txBox="1"/>
          <p:nvPr/>
        </p:nvSpPr>
        <p:spPr>
          <a:xfrm>
            <a:off x="3576638"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Model training &amp; fine-tuning</a:t>
            </a:r>
          </a:p>
          <a:p>
            <a:pPr>
              <a:lnSpc>
                <a:spcPct val="150000"/>
              </a:lnSpc>
            </a:pPr>
            <a:r>
              <a:rPr sz="930" b="0">
                <a:solidFill>
                  <a:srgbClr val="64648A"/>
                </a:solidFill>
                <a:latin typeface="Arial"/>
              </a:rPr>
              <a:t>Custom training, LoRA and domain adaptation — with evaluation harnesses and retraining loops.</a:t>
            </a:r>
          </a:p>
        </p:txBody>
      </p:sp>
      <p:sp>
        <p:nvSpPr>
          <p:cNvPr id="10" name="Rounded Rectangle 9"/>
          <p:cNvSpPr/>
          <p:nvPr/>
        </p:nvSpPr>
        <p:spPr>
          <a:xfrm>
            <a:off x="6162675"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1" name="TextBox 10"/>
          <p:cNvSpPr txBox="1"/>
          <p:nvPr/>
        </p:nvSpPr>
        <p:spPr>
          <a:xfrm>
            <a:off x="6353175"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AI agents &amp; orchestration</a:t>
            </a:r>
          </a:p>
          <a:p>
            <a:pPr>
              <a:lnSpc>
                <a:spcPct val="150000"/>
              </a:lnSpc>
            </a:pPr>
            <a:r>
              <a:rPr sz="930" b="0">
                <a:solidFill>
                  <a:srgbClr val="64648A"/>
                </a:solidFill>
                <a:latin typeface="Arial"/>
              </a:rPr>
              <a:t>Multi-agent, tool-using systems that carry out multi-step business workflows end to end.</a:t>
            </a:r>
          </a:p>
        </p:txBody>
      </p:sp>
      <p:sp>
        <p:nvSpPr>
          <p:cNvPr id="12" name="Rounded Rectangle 11"/>
          <p:cNvSpPr/>
          <p:nvPr/>
        </p:nvSpPr>
        <p:spPr>
          <a:xfrm>
            <a:off x="8939212"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3" name="TextBox 12"/>
          <p:cNvSpPr txBox="1"/>
          <p:nvPr/>
        </p:nvSpPr>
        <p:spPr>
          <a:xfrm>
            <a:off x="9129712"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Computer vision</a:t>
            </a:r>
          </a:p>
          <a:p>
            <a:pPr>
              <a:lnSpc>
                <a:spcPct val="150000"/>
              </a:lnSpc>
            </a:pPr>
            <a:r>
              <a:rPr sz="930" b="0">
                <a:solidFill>
                  <a:srgbClr val="64648A"/>
                </a:solidFill>
                <a:latin typeface="Arial"/>
              </a:rPr>
              <a:t>Detection and segmentation on visual and thermal imagery, at the edge and in the cloud.</a:t>
            </a:r>
          </a:p>
        </p:txBody>
      </p:sp>
      <p:sp>
        <p:nvSpPr>
          <p:cNvPr id="14" name="Rounded Rectangle 13"/>
          <p:cNvSpPr/>
          <p:nvPr/>
        </p:nvSpPr>
        <p:spPr>
          <a:xfrm>
            <a:off x="609600"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5" name="TextBox 14"/>
          <p:cNvSpPr txBox="1"/>
          <p:nvPr/>
        </p:nvSpPr>
        <p:spPr>
          <a:xfrm>
            <a:off x="800100"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Data engineering &amp; annotation</a:t>
            </a:r>
          </a:p>
          <a:p>
            <a:pPr>
              <a:lnSpc>
                <a:spcPct val="150000"/>
              </a:lnSpc>
            </a:pPr>
            <a:r>
              <a:rPr sz="930" b="0">
                <a:solidFill>
                  <a:srgbClr val="64648A"/>
                </a:solidFill>
                <a:latin typeface="Arial"/>
              </a:rPr>
              <a:t>ETL, cleaning, labeling and ML-ready dataset delivery — including physical-AI video annotation.</a:t>
            </a:r>
          </a:p>
        </p:txBody>
      </p:sp>
      <p:sp>
        <p:nvSpPr>
          <p:cNvPr id="16" name="Rounded Rectangle 15"/>
          <p:cNvSpPr/>
          <p:nvPr/>
        </p:nvSpPr>
        <p:spPr>
          <a:xfrm>
            <a:off x="3386138"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7" name="TextBox 16"/>
          <p:cNvSpPr txBox="1"/>
          <p:nvPr/>
        </p:nvSpPr>
        <p:spPr>
          <a:xfrm>
            <a:off x="3576638"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MLOps &amp; deployment</a:t>
            </a:r>
          </a:p>
          <a:p>
            <a:pPr>
              <a:lnSpc>
                <a:spcPct val="150000"/>
              </a:lnSpc>
            </a:pPr>
            <a:r>
              <a:rPr sz="930" b="0">
                <a:solidFill>
                  <a:srgbClr val="64648A"/>
                </a:solidFill>
                <a:latin typeface="Arial"/>
              </a:rPr>
              <a:t>Serving, monitoring, drift detection, A/B testing and continuous deployment.</a:t>
            </a:r>
          </a:p>
        </p:txBody>
      </p:sp>
      <p:sp>
        <p:nvSpPr>
          <p:cNvPr id="18" name="Rounded Rectangle 17"/>
          <p:cNvSpPr/>
          <p:nvPr/>
        </p:nvSpPr>
        <p:spPr>
          <a:xfrm>
            <a:off x="6162675"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9" name="TextBox 18"/>
          <p:cNvSpPr txBox="1"/>
          <p:nvPr/>
        </p:nvSpPr>
        <p:spPr>
          <a:xfrm>
            <a:off x="6353175"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Full-stack product engineering</a:t>
            </a:r>
          </a:p>
          <a:p>
            <a:pPr>
              <a:lnSpc>
                <a:spcPct val="150000"/>
              </a:lnSpc>
            </a:pPr>
            <a:r>
              <a:rPr sz="930" b="0">
                <a:solidFill>
                  <a:srgbClr val="64648A"/>
                </a:solidFill>
                <a:latin typeface="Arial"/>
              </a:rPr>
              <a:t>Web, native mobile and API platforms — monorepos, design systems, CI/CD.</a:t>
            </a:r>
          </a:p>
        </p:txBody>
      </p:sp>
      <p:sp>
        <p:nvSpPr>
          <p:cNvPr id="20" name="Rounded Rectangle 19"/>
          <p:cNvSpPr/>
          <p:nvPr/>
        </p:nvSpPr>
        <p:spPr>
          <a:xfrm>
            <a:off x="8939212"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21" name="TextBox 20"/>
          <p:cNvSpPr txBox="1"/>
          <p:nvPr/>
        </p:nvSpPr>
        <p:spPr>
          <a:xfrm>
            <a:off x="9129712"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Regulated &amp; compliant systems</a:t>
            </a:r>
          </a:p>
          <a:p>
            <a:pPr>
              <a:lnSpc>
                <a:spcPct val="150000"/>
              </a:lnSpc>
            </a:pPr>
            <a:r>
              <a:rPr sz="930" b="0">
                <a:solidFill>
                  <a:srgbClr val="64648A"/>
                </a:solidFill>
                <a:latin typeface="Arial"/>
              </a:rPr>
              <a:t>Audit trails, e-signatures, RBAC and submission packages for regulated industries.</a:t>
            </a:r>
          </a:p>
        </p:txBody>
      </p:sp>
      <p:sp>
        <p:nvSpPr>
          <p:cNvPr id="22" name="TextBox 21"/>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3" name="TextBox 22"/>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03</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Selected work</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Five systems, deliberately spanning the range — from a regulated clinical data platform to a contractor website shipped in weeks.</a:t>
            </a:r>
          </a:p>
        </p:txBody>
      </p:sp>
      <p:sp>
        <p:nvSpPr>
          <p:cNvPr id="6" name="TextBox 5"/>
          <p:cNvSpPr txBox="1"/>
          <p:nvPr/>
        </p:nvSpPr>
        <p:spPr>
          <a:xfrm>
            <a:off x="609600" y="2000250"/>
            <a:ext cx="1951482"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PROJECT</a:t>
            </a:r>
          </a:p>
        </p:txBody>
      </p:sp>
      <p:sp>
        <p:nvSpPr>
          <p:cNvPr id="7" name="TextBox 6"/>
          <p:cNvSpPr txBox="1"/>
          <p:nvPr/>
        </p:nvSpPr>
        <p:spPr>
          <a:xfrm>
            <a:off x="2694432" y="2000250"/>
            <a:ext cx="2719578"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DOMAIN</a:t>
            </a:r>
          </a:p>
        </p:txBody>
      </p:sp>
      <p:sp>
        <p:nvSpPr>
          <p:cNvPr id="8" name="TextBox 7"/>
          <p:cNvSpPr txBox="1"/>
          <p:nvPr/>
        </p:nvSpPr>
        <p:spPr>
          <a:xfrm>
            <a:off x="5547360" y="2000250"/>
            <a:ext cx="590169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IT IS</a:t>
            </a:r>
          </a:p>
        </p:txBody>
      </p:sp>
      <p:sp>
        <p:nvSpPr>
          <p:cNvPr id="9" name="Rectangle 8"/>
          <p:cNvSpPr/>
          <p:nvPr/>
        </p:nvSpPr>
        <p:spPr>
          <a:xfrm>
            <a:off x="609600" y="2209800"/>
            <a:ext cx="10972800" cy="14288"/>
          </a:xfrm>
          <a:prstGeom prst="rect">
            <a:avLst/>
          </a:prstGeom>
          <a:solidFill>
            <a:srgbClr val="D8CFF8"/>
          </a:solidFill>
          <a:ln>
            <a:noFill/>
          </a:ln>
          <a:effectLst/>
        </p:spPr>
        <p:txBody>
          <a:bodyPr rtlCol="0" anchor="ctr" wrap="square"/>
          <a:lstStyle/>
          <a:p>
            <a:pPr algn="ctr"/>
          </a:p>
        </p:txBody>
      </p:sp>
      <p:sp>
        <p:nvSpPr>
          <p:cNvPr id="10" name="TextBox 9"/>
          <p:cNvSpPr txBox="1"/>
          <p:nvPr/>
        </p:nvSpPr>
        <p:spPr>
          <a:xfrm>
            <a:off x="609600" y="2362200"/>
            <a:ext cx="1932432" cy="405194"/>
          </a:xfrm>
          <a:prstGeom prst="rect">
            <a:avLst/>
          </a:prstGeom>
          <a:noFill/>
        </p:spPr>
        <p:txBody>
          <a:bodyPr wrap="square" lIns="0" rIns="0" tIns="0" bIns="0" anchor="t">
            <a:spAutoFit/>
          </a:bodyPr>
          <a:lstStyle/>
          <a:p>
            <a:pPr>
              <a:lnSpc>
                <a:spcPct val="145000"/>
              </a:lnSpc>
            </a:pPr>
            <a:r>
              <a:rPr sz="1012" b="1">
                <a:solidFill>
                  <a:srgbClr val="0A0A1A"/>
                </a:solidFill>
                <a:latin typeface="Arial"/>
              </a:rPr>
              <a:t>Helix</a:t>
            </a:r>
          </a:p>
        </p:txBody>
      </p:sp>
      <p:sp>
        <p:nvSpPr>
          <p:cNvPr id="11" name="TextBox 10"/>
          <p:cNvSpPr txBox="1"/>
          <p:nvPr/>
        </p:nvSpPr>
        <p:spPr>
          <a:xfrm>
            <a:off x="2694432" y="2362200"/>
            <a:ext cx="2700528"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Clinical trials · regulated life sciences</a:t>
            </a:r>
          </a:p>
        </p:txBody>
      </p:sp>
      <p:sp>
        <p:nvSpPr>
          <p:cNvPr id="12" name="TextBox 11"/>
          <p:cNvSpPr txBox="1"/>
          <p:nvPr/>
        </p:nvSpPr>
        <p:spPr>
          <a:xfrm>
            <a:off x="5547360" y="2362200"/>
            <a:ext cx="5882640"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Decision-intelligence platform for the ODM → SDTM → ADaM pipeline, with AI-assisted mapping and 21 CFR Part 11 compliance.</a:t>
            </a:r>
          </a:p>
        </p:txBody>
      </p:sp>
      <p:sp>
        <p:nvSpPr>
          <p:cNvPr id="13" name="Rectangle 12"/>
          <p:cNvSpPr/>
          <p:nvPr/>
        </p:nvSpPr>
        <p:spPr>
          <a:xfrm>
            <a:off x="609600" y="2824544"/>
            <a:ext cx="10972800" cy="7144"/>
          </a:xfrm>
          <a:prstGeom prst="rect">
            <a:avLst/>
          </a:prstGeom>
          <a:solidFill>
            <a:srgbClr val="EDECF5"/>
          </a:solidFill>
          <a:ln>
            <a:noFill/>
          </a:ln>
          <a:effectLst/>
        </p:spPr>
        <p:txBody>
          <a:bodyPr rtlCol="0" anchor="ctr" wrap="square"/>
          <a:lstStyle/>
          <a:p>
            <a:pPr algn="ctr"/>
          </a:p>
        </p:txBody>
      </p:sp>
      <p:sp>
        <p:nvSpPr>
          <p:cNvPr id="14" name="TextBox 13"/>
          <p:cNvSpPr txBox="1"/>
          <p:nvPr/>
        </p:nvSpPr>
        <p:spPr>
          <a:xfrm>
            <a:off x="609600" y="2938844"/>
            <a:ext cx="1932432" cy="405194"/>
          </a:xfrm>
          <a:prstGeom prst="rect">
            <a:avLst/>
          </a:prstGeom>
          <a:noFill/>
        </p:spPr>
        <p:txBody>
          <a:bodyPr wrap="square" lIns="0" rIns="0" tIns="0" bIns="0" anchor="t">
            <a:spAutoFit/>
          </a:bodyPr>
          <a:lstStyle/>
          <a:p>
            <a:pPr>
              <a:lnSpc>
                <a:spcPct val="145000"/>
              </a:lnSpc>
            </a:pPr>
            <a:r>
              <a:rPr sz="1012" b="1">
                <a:solidFill>
                  <a:srgbClr val="0A0A1A"/>
                </a:solidFill>
                <a:latin typeface="Arial"/>
              </a:rPr>
              <a:t>Sentinel</a:t>
            </a:r>
          </a:p>
        </p:txBody>
      </p:sp>
      <p:sp>
        <p:nvSpPr>
          <p:cNvPr id="15" name="TextBox 14"/>
          <p:cNvSpPr txBox="1"/>
          <p:nvPr/>
        </p:nvSpPr>
        <p:spPr>
          <a:xfrm>
            <a:off x="2694432" y="2938844"/>
            <a:ext cx="2700528"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Drone · infrastructure inspection</a:t>
            </a:r>
          </a:p>
        </p:txBody>
      </p:sp>
      <p:sp>
        <p:nvSpPr>
          <p:cNvPr id="16" name="TextBox 15"/>
          <p:cNvSpPr txBox="1"/>
          <p:nvPr/>
        </p:nvSpPr>
        <p:spPr>
          <a:xfrm>
            <a:off x="5547360" y="2938844"/>
            <a:ext cx="5882640"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Drones survey the asset, computer vision finds the defects, the platform turns them into tracked, SLA-bound work orders.</a:t>
            </a:r>
          </a:p>
        </p:txBody>
      </p:sp>
      <p:sp>
        <p:nvSpPr>
          <p:cNvPr id="17" name="Rectangle 16"/>
          <p:cNvSpPr/>
          <p:nvPr/>
        </p:nvSpPr>
        <p:spPr>
          <a:xfrm>
            <a:off x="609600" y="3401187"/>
            <a:ext cx="10972800" cy="7144"/>
          </a:xfrm>
          <a:prstGeom prst="rect">
            <a:avLst/>
          </a:prstGeom>
          <a:solidFill>
            <a:srgbClr val="EDECF5"/>
          </a:solidFill>
          <a:ln>
            <a:noFill/>
          </a:ln>
          <a:effectLst/>
        </p:spPr>
        <p:txBody>
          <a:bodyPr rtlCol="0" anchor="ctr" wrap="square"/>
          <a:lstStyle/>
          <a:p>
            <a:pPr algn="ctr"/>
          </a:p>
        </p:txBody>
      </p:sp>
      <p:sp>
        <p:nvSpPr>
          <p:cNvPr id="18" name="TextBox 17"/>
          <p:cNvSpPr txBox="1"/>
          <p:nvPr/>
        </p:nvSpPr>
        <p:spPr>
          <a:xfrm>
            <a:off x="609600" y="3515487"/>
            <a:ext cx="1932432" cy="405194"/>
          </a:xfrm>
          <a:prstGeom prst="rect">
            <a:avLst/>
          </a:prstGeom>
          <a:noFill/>
        </p:spPr>
        <p:txBody>
          <a:bodyPr wrap="square" lIns="0" rIns="0" tIns="0" bIns="0" anchor="t">
            <a:spAutoFit/>
          </a:bodyPr>
          <a:lstStyle/>
          <a:p>
            <a:pPr>
              <a:lnSpc>
                <a:spcPct val="145000"/>
              </a:lnSpc>
            </a:pPr>
            <a:r>
              <a:rPr sz="1012" b="1">
                <a:solidFill>
                  <a:srgbClr val="0A0A1A"/>
                </a:solidFill>
                <a:latin typeface="Arial"/>
              </a:rPr>
              <a:t>Cortex</a:t>
            </a:r>
          </a:p>
        </p:txBody>
      </p:sp>
      <p:sp>
        <p:nvSpPr>
          <p:cNvPr id="19" name="TextBox 18"/>
          <p:cNvSpPr txBox="1"/>
          <p:nvPr/>
        </p:nvSpPr>
        <p:spPr>
          <a:xfrm>
            <a:off x="2694432" y="3515487"/>
            <a:ext cx="2700528"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Railway · edge AI</a:t>
            </a:r>
          </a:p>
        </p:txBody>
      </p:sp>
      <p:sp>
        <p:nvSpPr>
          <p:cNvPr id="20" name="TextBox 19"/>
          <p:cNvSpPr txBox="1"/>
          <p:nvPr/>
        </p:nvSpPr>
        <p:spPr>
          <a:xfrm>
            <a:off x="5547360" y="3515487"/>
            <a:ext cx="5882640"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Cart-mounted Raspberry Pi captures track imagery over 4G; cloud AI detects rail defects on a geospatial operator dashboard.</a:t>
            </a:r>
          </a:p>
        </p:txBody>
      </p:sp>
      <p:sp>
        <p:nvSpPr>
          <p:cNvPr id="21" name="Rectangle 20"/>
          <p:cNvSpPr/>
          <p:nvPr/>
        </p:nvSpPr>
        <p:spPr>
          <a:xfrm>
            <a:off x="609600" y="3977831"/>
            <a:ext cx="10972800" cy="7144"/>
          </a:xfrm>
          <a:prstGeom prst="rect">
            <a:avLst/>
          </a:prstGeom>
          <a:solidFill>
            <a:srgbClr val="EDECF5"/>
          </a:solidFill>
          <a:ln>
            <a:noFill/>
          </a:ln>
          <a:effectLst/>
        </p:spPr>
        <p:txBody>
          <a:bodyPr rtlCol="0" anchor="ctr" wrap="square"/>
          <a:lstStyle/>
          <a:p>
            <a:pPr algn="ctr"/>
          </a:p>
        </p:txBody>
      </p:sp>
      <p:sp>
        <p:nvSpPr>
          <p:cNvPr id="22" name="TextBox 21"/>
          <p:cNvSpPr txBox="1"/>
          <p:nvPr/>
        </p:nvSpPr>
        <p:spPr>
          <a:xfrm>
            <a:off x="609600" y="4092131"/>
            <a:ext cx="1932432" cy="405194"/>
          </a:xfrm>
          <a:prstGeom prst="rect">
            <a:avLst/>
          </a:prstGeom>
          <a:noFill/>
        </p:spPr>
        <p:txBody>
          <a:bodyPr wrap="square" lIns="0" rIns="0" tIns="0" bIns="0" anchor="t">
            <a:spAutoFit/>
          </a:bodyPr>
          <a:lstStyle/>
          <a:p>
            <a:pPr>
              <a:lnSpc>
                <a:spcPct val="145000"/>
              </a:lnSpc>
            </a:pPr>
            <a:r>
              <a:rPr sz="1012" b="1">
                <a:solidFill>
                  <a:srgbClr val="0A0A1A"/>
                </a:solidFill>
                <a:latin typeface="Arial"/>
              </a:rPr>
              <a:t>RDACTD</a:t>
            </a:r>
          </a:p>
        </p:txBody>
      </p:sp>
      <p:sp>
        <p:nvSpPr>
          <p:cNvPr id="23" name="TextBox 22"/>
          <p:cNvSpPr txBox="1"/>
          <p:nvPr/>
        </p:nvSpPr>
        <p:spPr>
          <a:xfrm>
            <a:off x="2694432" y="4092131"/>
            <a:ext cx="2700528"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Enterprise integrity · SaaS</a:t>
            </a:r>
          </a:p>
        </p:txBody>
      </p:sp>
      <p:sp>
        <p:nvSpPr>
          <p:cNvPr id="24" name="TextBox 23"/>
          <p:cNvSpPr txBox="1"/>
          <p:nvPr/>
        </p:nvSpPr>
        <p:spPr>
          <a:xfrm>
            <a:off x="5547360" y="4092131"/>
            <a:ext cx="5882640"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Encrypted complaint management, resolution workflows and organizational integrity analytics — web and native mobile.</a:t>
            </a:r>
          </a:p>
        </p:txBody>
      </p:sp>
      <p:sp>
        <p:nvSpPr>
          <p:cNvPr id="25" name="Rectangle 24"/>
          <p:cNvSpPr/>
          <p:nvPr/>
        </p:nvSpPr>
        <p:spPr>
          <a:xfrm>
            <a:off x="609600" y="4554474"/>
            <a:ext cx="10972800" cy="7144"/>
          </a:xfrm>
          <a:prstGeom prst="rect">
            <a:avLst/>
          </a:prstGeom>
          <a:solidFill>
            <a:srgbClr val="EDECF5"/>
          </a:solidFill>
          <a:ln>
            <a:noFill/>
          </a:ln>
          <a:effectLst/>
        </p:spPr>
        <p:txBody>
          <a:bodyPr rtlCol="0" anchor="ctr" wrap="square"/>
          <a:lstStyle/>
          <a:p>
            <a:pPr algn="ctr"/>
          </a:p>
        </p:txBody>
      </p:sp>
      <p:sp>
        <p:nvSpPr>
          <p:cNvPr id="26" name="TextBox 25"/>
          <p:cNvSpPr txBox="1"/>
          <p:nvPr/>
        </p:nvSpPr>
        <p:spPr>
          <a:xfrm>
            <a:off x="609600" y="4668774"/>
            <a:ext cx="1932432" cy="405194"/>
          </a:xfrm>
          <a:prstGeom prst="rect">
            <a:avLst/>
          </a:prstGeom>
          <a:noFill/>
        </p:spPr>
        <p:txBody>
          <a:bodyPr wrap="square" lIns="0" rIns="0" tIns="0" bIns="0" anchor="t">
            <a:spAutoFit/>
          </a:bodyPr>
          <a:lstStyle/>
          <a:p>
            <a:pPr>
              <a:lnSpc>
                <a:spcPct val="145000"/>
              </a:lnSpc>
            </a:pPr>
            <a:r>
              <a:rPr sz="1012" b="1">
                <a:solidFill>
                  <a:srgbClr val="0A0A1A"/>
                </a:solidFill>
                <a:latin typeface="Arial"/>
              </a:rPr>
              <a:t>Open Air Construction</a:t>
            </a:r>
          </a:p>
        </p:txBody>
      </p:sp>
      <p:sp>
        <p:nvSpPr>
          <p:cNvPr id="27" name="TextBox 26"/>
          <p:cNvSpPr txBox="1"/>
          <p:nvPr/>
        </p:nvSpPr>
        <p:spPr>
          <a:xfrm>
            <a:off x="2694432" y="4668774"/>
            <a:ext cx="2700528"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Commercial web · local SEO</a:t>
            </a:r>
          </a:p>
        </p:txBody>
      </p:sp>
      <p:sp>
        <p:nvSpPr>
          <p:cNvPr id="28" name="TextBox 27"/>
          <p:cNvSpPr txBox="1"/>
          <p:nvPr/>
        </p:nvSpPr>
        <p:spPr>
          <a:xfrm>
            <a:off x="5547360" y="4668774"/>
            <a:ext cx="5882640" cy="405194"/>
          </a:xfrm>
          <a:prstGeom prst="rect">
            <a:avLst/>
          </a:prstGeom>
          <a:noFill/>
        </p:spPr>
        <p:txBody>
          <a:bodyPr wrap="square" lIns="0" rIns="0" tIns="0" bIns="0" anchor="t">
            <a:spAutoFit/>
          </a:bodyPr>
          <a:lstStyle/>
          <a:p>
            <a:pPr>
              <a:lnSpc>
                <a:spcPct val="145000"/>
              </a:lnSpc>
            </a:pPr>
            <a:r>
              <a:rPr sz="944" b="0">
                <a:solidFill>
                  <a:srgbClr val="64648A"/>
                </a:solidFill>
                <a:latin typeface="Arial"/>
              </a:rPr>
              <a:t>Contractor marketing site with typed content, MDX blog, lead pipeline and an admin inbox — Lighthouse SEO 100.</a:t>
            </a:r>
          </a:p>
        </p:txBody>
      </p:sp>
      <p:sp>
        <p:nvSpPr>
          <p:cNvPr id="29" name="Rectangle 28"/>
          <p:cNvSpPr/>
          <p:nvPr/>
        </p:nvSpPr>
        <p:spPr>
          <a:xfrm>
            <a:off x="609600" y="5131118"/>
            <a:ext cx="10972800" cy="7144"/>
          </a:xfrm>
          <a:prstGeom prst="rect">
            <a:avLst/>
          </a:prstGeom>
          <a:solidFill>
            <a:srgbClr val="EDECF5"/>
          </a:solidFill>
          <a:ln>
            <a:noFill/>
          </a:ln>
          <a:effectLst/>
        </p:spPr>
        <p:txBody>
          <a:bodyPr rtlCol="0" anchor="ctr" wrap="square"/>
          <a:lstStyle/>
          <a:p>
            <a:pPr algn="ctr"/>
          </a:p>
        </p:txBody>
      </p:sp>
      <p:sp>
        <p:nvSpPr>
          <p:cNvPr id="30" name="TextBox 29"/>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31" name="TextBox 30"/>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t-helix.png"/>
          <p:cNvPicPr>
            <a:picLocks noChangeAspect="1"/>
          </p:cNvPicPr>
          <p:nvPr/>
        </p:nvPicPr>
        <p:blipFill>
          <a:blip r:embed="rId2"/>
          <a:stretch>
            <a:fillRect/>
          </a:stretch>
        </p:blipFill>
        <p:spPr>
          <a:xfrm>
            <a:off x="9963150" y="381000"/>
            <a:ext cx="1676400" cy="1676400"/>
          </a:xfrm>
          <a:prstGeom prst="rect">
            <a:avLst/>
          </a:prstGeom>
        </p:spPr>
      </p:pic>
      <p:sp>
        <p:nvSpPr>
          <p:cNvPr id="3" name="TextBox 2"/>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04</a:t>
            </a:r>
          </a:p>
        </p:txBody>
      </p:sp>
      <p:sp>
        <p:nvSpPr>
          <p:cNvPr id="4" name="TextBox 3"/>
          <p:cNvSpPr txBox="1"/>
          <p:nvPr/>
        </p:nvSpPr>
        <p:spPr>
          <a:xfrm>
            <a:off x="609600" y="6858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Helix</a:t>
            </a:r>
          </a:p>
        </p:txBody>
      </p:sp>
      <p:sp>
        <p:nvSpPr>
          <p:cNvPr id="5" name="TextBox 4"/>
          <p:cNvSpPr txBox="1"/>
          <p:nvPr/>
        </p:nvSpPr>
        <p:spPr>
          <a:xfrm>
            <a:off x="609600" y="933450"/>
            <a:ext cx="8953500" cy="419100"/>
          </a:xfrm>
          <a:prstGeom prst="rect">
            <a:avLst/>
          </a:prstGeom>
          <a:noFill/>
        </p:spPr>
        <p:txBody>
          <a:bodyPr wrap="square" lIns="0" rIns="0" tIns="0" bIns="0" anchor="t">
            <a:spAutoFit/>
          </a:bodyPr>
          <a:lstStyle/>
          <a:p>
            <a:pPr>
              <a:lnSpc>
                <a:spcPct val="110000"/>
              </a:lnSpc>
            </a:pPr>
            <a:r>
              <a:rPr sz="2550" b="1">
                <a:solidFill>
                  <a:srgbClr val="0A0A1A"/>
                </a:solidFill>
                <a:latin typeface="Arial"/>
              </a:rPr>
              <a:t>Institutional memory for clinical data mapping</a:t>
            </a:r>
          </a:p>
        </p:txBody>
      </p:sp>
      <p:sp>
        <p:nvSpPr>
          <p:cNvPr id="6" name="TextBox 5"/>
          <p:cNvSpPr txBox="1"/>
          <p:nvPr/>
        </p:nvSpPr>
        <p:spPr>
          <a:xfrm>
            <a:off x="609600" y="1409700"/>
            <a:ext cx="10972800" cy="171450"/>
          </a:xfrm>
          <a:prstGeom prst="rect">
            <a:avLst/>
          </a:prstGeom>
          <a:noFill/>
        </p:spPr>
        <p:txBody>
          <a:bodyPr wrap="square" lIns="0" rIns="0" tIns="0" bIns="0" anchor="t">
            <a:spAutoFit/>
          </a:bodyPr>
          <a:lstStyle/>
          <a:p>
            <a:pPr>
              <a:lnSpc>
                <a:spcPct val="135000"/>
              </a:lnSpc>
            </a:pPr>
            <a:r>
              <a:rPr sz="600" b="1" spc="120">
                <a:solidFill>
                  <a:srgbClr val="8888A0"/>
                </a:solidFill>
                <a:latin typeface="Courier New"/>
              </a:rPr>
              <a:t>CLINICAL TRIALS · REGULATED LIFE SCIENCES</a:t>
            </a:r>
          </a:p>
        </p:txBody>
      </p:sp>
      <p:sp>
        <p:nvSpPr>
          <p:cNvPr id="7" name="TextBox 6"/>
          <p:cNvSpPr txBox="1"/>
          <p:nvPr/>
        </p:nvSpPr>
        <p:spPr>
          <a:xfrm>
            <a:off x="609600" y="1771650"/>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CONTEXT</a:t>
            </a:r>
          </a:p>
        </p:txBody>
      </p:sp>
      <p:sp>
        <p:nvSpPr>
          <p:cNvPr id="8" name="TextBox 7"/>
          <p:cNvSpPr txBox="1"/>
          <p:nvPr/>
        </p:nvSpPr>
        <p:spPr>
          <a:xfrm>
            <a:off x="609600" y="1962150"/>
            <a:ext cx="3238500" cy="1143000"/>
          </a:xfrm>
          <a:prstGeom prst="rect">
            <a:avLst/>
          </a:prstGeom>
          <a:noFill/>
        </p:spPr>
        <p:txBody>
          <a:bodyPr wrap="square" lIns="0" rIns="0" tIns="0" bIns="0" anchor="t">
            <a:spAutoFit/>
          </a:bodyPr>
          <a:lstStyle/>
          <a:p>
            <a:pPr>
              <a:lnSpc>
                <a:spcPct val="155000"/>
              </a:lnSpc>
            </a:pPr>
            <a:r>
              <a:rPr sz="960" b="0">
                <a:solidFill>
                  <a:srgbClr val="64648A"/>
                </a:solidFill>
                <a:latin typeface="Arial"/>
              </a:rPr>
              <a:t>Decision Intelligence Platform for Clinical Data — capturing, versioning and reusing mapping decisions across the ODM → SDTM → ADaM transformation pipeline.</a:t>
            </a:r>
          </a:p>
        </p:txBody>
      </p:sp>
      <p:sp>
        <p:nvSpPr>
          <p:cNvPr id="9" name="TextBox 8"/>
          <p:cNvSpPr txBox="1"/>
          <p:nvPr/>
        </p:nvSpPr>
        <p:spPr>
          <a:xfrm>
            <a:off x="609600" y="2990088"/>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PROBLEM</a:t>
            </a:r>
          </a:p>
        </p:txBody>
      </p:sp>
      <p:sp>
        <p:nvSpPr>
          <p:cNvPr id="10" name="TextBox 9"/>
          <p:cNvSpPr txBox="1"/>
          <p:nvPr/>
        </p:nvSpPr>
        <p:spPr>
          <a:xfrm>
            <a:off x="609600" y="3180588"/>
            <a:ext cx="3238500" cy="1524000"/>
          </a:xfrm>
          <a:prstGeom prst="rect">
            <a:avLst/>
          </a:prstGeom>
          <a:noFill/>
        </p:spPr>
        <p:txBody>
          <a:bodyPr wrap="square" lIns="0" rIns="0" tIns="0" bIns="0" anchor="t">
            <a:spAutoFit/>
          </a:bodyPr>
          <a:lstStyle/>
          <a:p>
            <a:pPr>
              <a:lnSpc>
                <a:spcPct val="155000"/>
              </a:lnSpc>
            </a:pPr>
            <a:r>
              <a:rPr sz="960" b="0">
                <a:solidFill>
                  <a:srgbClr val="64648A"/>
                </a:solidFill>
                <a:latin typeface="Arial"/>
              </a:rPr>
              <a:t>Every clinical study re-derives the same data-mapping decisions from scratch. The reasoning lives in spreadsheets and in people's heads, it is lost when staff move on, and regulators still expect a defensible audit trail for every one of them.</a:t>
            </a:r>
          </a:p>
        </p:txBody>
      </p:sp>
      <p:sp>
        <p:nvSpPr>
          <p:cNvPr id="11" name="TextBox 10"/>
          <p:cNvSpPr txBox="1"/>
          <p:nvPr/>
        </p:nvSpPr>
        <p:spPr>
          <a:xfrm>
            <a:off x="4171950" y="1771650"/>
            <a:ext cx="6667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WE BUILT</a:t>
            </a:r>
          </a:p>
        </p:txBody>
      </p:sp>
      <p:sp>
        <p:nvSpPr>
          <p:cNvPr id="12" name="TextBox 11"/>
          <p:cNvSpPr txBox="1"/>
          <p:nvPr/>
        </p:nvSpPr>
        <p:spPr>
          <a:xfrm>
            <a:off x="4171950" y="1962150"/>
            <a:ext cx="7410450" cy="3238500"/>
          </a:xfrm>
          <a:prstGeom prst="rect">
            <a:avLst/>
          </a:prstGeom>
          <a:noFill/>
        </p:spPr>
        <p:txBody>
          <a:bodyPr wrap="square" lIns="0" rIns="0" tIns="0" bIns="0" anchor="t">
            <a:spAutoFit/>
          </a:bodyPr>
          <a:lstStyle/>
          <a:p>
            <a:pPr marL="190500" indent="-190500">
              <a:lnSpc>
                <a:spcPct val="142000"/>
              </a:lnSpc>
              <a:spcAft>
                <a:spcPts val="675"/>
              </a:spcAft>
              <a:buClr>
                <a:srgbClr val="7C3AED"/>
              </a:buClr>
              <a:buFont typeface="Arial"/>
              <a:buChar char="▪"/>
            </a:pPr>
            <a:r>
              <a:rPr sz="960" b="0">
                <a:solidFill>
                  <a:srgbClr val="3A3A5C"/>
                </a:solidFill>
                <a:latin typeface="Arial"/>
              </a:rPr>
              <a:t>CDISC ODM v1.3.2 ingestion with schema validation, then mapping decisions carried through review, comment and approval chains</a:t>
            </a:r>
          </a:p>
          <a:p>
            <a:pPr marL="190500" indent="-190500">
              <a:lnSpc>
                <a:spcPct val="142000"/>
              </a:lnSpc>
              <a:spcAft>
                <a:spcPts val="675"/>
              </a:spcAft>
              <a:buClr>
                <a:srgbClr val="7C3AED"/>
              </a:buClr>
              <a:buFont typeface="Arial"/>
              <a:buChar char="▪"/>
            </a:pPr>
            <a:r>
              <a:rPr sz="960" b="0">
                <a:solidFill>
                  <a:srgbClr val="3A3A5C"/>
                </a:solidFill>
                <a:latin typeface="Arial"/>
              </a:rPr>
              <a:t>Cross-study precedent reuse — semantic search over prior decisions, copied forward with lineage tracking and conflict resolution</a:t>
            </a:r>
          </a:p>
          <a:p>
            <a:pPr marL="190500" indent="-190500">
              <a:lnSpc>
                <a:spcPct val="142000"/>
              </a:lnSpc>
              <a:spcAft>
                <a:spcPts val="675"/>
              </a:spcAft>
              <a:buClr>
                <a:srgbClr val="7C3AED"/>
              </a:buClr>
              <a:buFont typeface="Arial"/>
              <a:buChar char="▪"/>
            </a:pPr>
            <a:r>
              <a:rPr sz="960" b="0">
                <a:solidFill>
                  <a:srgbClr val="3A3A5C"/>
                </a:solidFill>
                <a:latin typeface="Arial"/>
              </a:rPr>
              <a:t>AI-assisted mapping suggestions with confidence scoring, plus nine anomaly detectors for cross-study inconsistency</a:t>
            </a:r>
          </a:p>
          <a:p>
            <a:pPr marL="190500" indent="-190500">
              <a:lnSpc>
                <a:spcPct val="142000"/>
              </a:lnSpc>
              <a:spcAft>
                <a:spcPts val="675"/>
              </a:spcAft>
              <a:buClr>
                <a:srgbClr val="7C3AED"/>
              </a:buClr>
              <a:buFont typeface="Arial"/>
              <a:buChar char="▪"/>
            </a:pPr>
            <a:r>
              <a:rPr sz="960" b="0">
                <a:solidFill>
                  <a:srgbClr val="3A3A5C"/>
                </a:solidFill>
                <a:latin typeface="Arial"/>
              </a:rPr>
              <a:t>Executable SAS, R and Python code generated straight from approved decisions</a:t>
            </a:r>
          </a:p>
          <a:p>
            <a:pPr marL="190500" indent="-190500">
              <a:lnSpc>
                <a:spcPct val="142000"/>
              </a:lnSpc>
              <a:spcAft>
                <a:spcPts val="675"/>
              </a:spcAft>
              <a:buClr>
                <a:srgbClr val="7C3AED"/>
              </a:buClr>
              <a:buFont typeface="Arial"/>
              <a:buChar char="▪"/>
            </a:pPr>
            <a:r>
              <a:rPr sz="960" b="0">
                <a:solidFill>
                  <a:srgbClr val="3A3A5C"/>
                </a:solidFill>
                <a:latin typeface="Arial"/>
              </a:rPr>
              <a:t>Virtual trial simulation: a 17-tool agent runs synthetic cohorts visit by visit, with synthetic control arms and ML enrollment forecasting</a:t>
            </a:r>
          </a:p>
          <a:p>
            <a:pPr marL="190500" indent="-190500">
              <a:lnSpc>
                <a:spcPct val="142000"/>
              </a:lnSpc>
              <a:spcAft>
                <a:spcPts val="675"/>
              </a:spcAft>
              <a:buClr>
                <a:srgbClr val="7C3AED"/>
              </a:buClr>
              <a:buFont typeface="Arial"/>
              <a:buChar char="▪"/>
            </a:pPr>
            <a:r>
              <a:rPr sz="960" b="0">
                <a:solidFill>
                  <a:srgbClr val="3A3A5C"/>
                </a:solidFill>
                <a:latin typeface="Arial"/>
              </a:rPr>
              <a:t>Regulatory output — eCTD Module 5 packages, Define-XML 2.1, ClinicalTrials.gov registration, RBQM risk dashboards</a:t>
            </a:r>
          </a:p>
        </p:txBody>
      </p:sp>
      <p:sp>
        <p:nvSpPr>
          <p:cNvPr id="13" name="Rectangle 12"/>
          <p:cNvSpPr/>
          <p:nvPr/>
        </p:nvSpPr>
        <p:spPr>
          <a:xfrm>
            <a:off x="609600" y="5295900"/>
            <a:ext cx="10972800" cy="990600"/>
          </a:xfrm>
          <a:prstGeom prst="rect">
            <a:avLst/>
          </a:prstGeom>
          <a:solidFill>
            <a:srgbClr val="FBFAFE"/>
          </a:solidFill>
          <a:ln>
            <a:noFill/>
          </a:ln>
          <a:effectLst/>
        </p:spPr>
        <p:txBody>
          <a:bodyPr rtlCol="0" anchor="ctr" wrap="square"/>
          <a:lstStyle/>
          <a:p>
            <a:pPr algn="ctr"/>
          </a:p>
        </p:txBody>
      </p:sp>
      <p:sp>
        <p:nvSpPr>
          <p:cNvPr id="14" name="Rectangle 13"/>
          <p:cNvSpPr/>
          <p:nvPr/>
        </p:nvSpPr>
        <p:spPr>
          <a:xfrm>
            <a:off x="609600" y="5295900"/>
            <a:ext cx="28575" cy="990600"/>
          </a:xfrm>
          <a:prstGeom prst="rect">
            <a:avLst/>
          </a:prstGeom>
          <a:solidFill>
            <a:srgbClr val="7C3AED"/>
          </a:solidFill>
          <a:ln>
            <a:noFill/>
          </a:ln>
          <a:effectLst/>
        </p:spPr>
        <p:txBody>
          <a:bodyPr rtlCol="0" anchor="ctr" wrap="square"/>
          <a:lstStyle/>
          <a:p>
            <a:pPr algn="ctr"/>
          </a:p>
        </p:txBody>
      </p:sp>
      <p:sp>
        <p:nvSpPr>
          <p:cNvPr id="15" name="TextBox 14"/>
          <p:cNvSpPr txBox="1"/>
          <p:nvPr/>
        </p:nvSpPr>
        <p:spPr>
          <a:xfrm>
            <a:off x="800100" y="5448300"/>
            <a:ext cx="57150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WHY IT IS HARD</a:t>
            </a:r>
          </a:p>
        </p:txBody>
      </p:sp>
      <p:sp>
        <p:nvSpPr>
          <p:cNvPr id="16" name="TextBox 15"/>
          <p:cNvSpPr txBox="1"/>
          <p:nvPr/>
        </p:nvSpPr>
        <p:spPr>
          <a:xfrm>
            <a:off x="800100" y="5638800"/>
            <a:ext cx="10401300" cy="571500"/>
          </a:xfrm>
          <a:prstGeom prst="rect">
            <a:avLst/>
          </a:prstGeom>
          <a:noFill/>
        </p:spPr>
        <p:txBody>
          <a:bodyPr wrap="square" lIns="0" rIns="0" tIns="0" bIns="0" anchor="t">
            <a:spAutoFit/>
          </a:bodyPr>
          <a:lstStyle/>
          <a:p>
            <a:pPr>
              <a:lnSpc>
                <a:spcPct val="150000"/>
              </a:lnSpc>
            </a:pPr>
            <a:r>
              <a:rPr sz="960" b="0">
                <a:solidFill>
                  <a:srgbClr val="3A3A5C"/>
                </a:solidFill>
                <a:latin typeface="Arial"/>
              </a:rPr>
              <a:t>21 CFR Part 11 compliance is not a feature you bolt on. Every action writes to an append-only audit log chained with SHA-256 checksums, backed by electronic signatures and role-based access control — so the record is tamper-evident end to end.</a:t>
            </a:r>
          </a:p>
        </p:txBody>
      </p:sp>
      <p:sp>
        <p:nvSpPr>
          <p:cNvPr id="17" name="TextBox 1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8" name="TextBox 1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Helix</a:t>
            </a:r>
          </a:p>
        </p:txBody>
      </p:sp>
      <p:sp>
        <p:nvSpPr>
          <p:cNvPr id="3" name="TextBox 2"/>
          <p:cNvSpPr txBox="1"/>
          <p:nvPr/>
        </p:nvSpPr>
        <p:spPr>
          <a:xfrm>
            <a:off x="609600" y="723900"/>
            <a:ext cx="8572500" cy="419100"/>
          </a:xfrm>
          <a:prstGeom prst="rect">
            <a:avLst/>
          </a:prstGeom>
          <a:noFill/>
        </p:spPr>
        <p:txBody>
          <a:bodyPr wrap="square" lIns="0" rIns="0" tIns="0" bIns="0" anchor="t">
            <a:spAutoFit/>
          </a:bodyPr>
          <a:lstStyle/>
          <a:p>
            <a:pPr>
              <a:lnSpc>
                <a:spcPct val="135000"/>
              </a:lnSpc>
            </a:pPr>
            <a:r>
              <a:rPr sz="2100" b="1">
                <a:solidFill>
                  <a:srgbClr val="0A0A1A"/>
                </a:solidFill>
                <a:latin typeface="Arial"/>
              </a:rPr>
              <a:t>Architecture &amp; stack</a:t>
            </a:r>
          </a:p>
        </p:txBody>
      </p:sp>
      <p:sp>
        <p:nvSpPr>
          <p:cNvPr id="4" name="Rounded Rectangle 3"/>
          <p:cNvSpPr/>
          <p:nvPr/>
        </p:nvSpPr>
        <p:spPr>
          <a:xfrm>
            <a:off x="609600" y="1276350"/>
            <a:ext cx="514350" cy="28575"/>
          </a:xfrm>
          <a:prstGeom prst="roundRect">
            <a:avLst>
              <a:gd name="adj" fmla="val 50000"/>
            </a:avLst>
          </a:prstGeom>
          <a:solidFill>
            <a:srgbClr val="7C3AED"/>
          </a:solidFill>
          <a:ln>
            <a:noFill/>
          </a:ln>
          <a:effectLst/>
        </p:spPr>
        <p:txBody>
          <a:bodyPr rtlCol="0" anchor="ctr" wrap="square"/>
          <a:lstStyle/>
          <a:p>
            <a:pPr algn="ctr"/>
          </a:p>
        </p:txBody>
      </p:sp>
      <p:pic>
        <p:nvPicPr>
          <p:cNvPr id="5" name="Picture 4" descr="diagram-helix.png"/>
          <p:cNvPicPr>
            <a:picLocks noChangeAspect="1"/>
          </p:cNvPicPr>
          <p:nvPr/>
        </p:nvPicPr>
        <p:blipFill>
          <a:blip r:embed="rId2"/>
          <a:stretch>
            <a:fillRect/>
          </a:stretch>
        </p:blipFill>
        <p:spPr>
          <a:xfrm>
            <a:off x="609600" y="1428750"/>
            <a:ext cx="6572250" cy="4572000"/>
          </a:xfrm>
          <a:prstGeom prst="rect">
            <a:avLst/>
          </a:prstGeom>
        </p:spPr>
      </p:pic>
      <p:sp>
        <p:nvSpPr>
          <p:cNvPr id="6" name="TextBox 5"/>
          <p:cNvSpPr txBox="1"/>
          <p:nvPr/>
        </p:nvSpPr>
        <p:spPr>
          <a:xfrm>
            <a:off x="7467600" y="1390650"/>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STACK</a:t>
            </a:r>
          </a:p>
        </p:txBody>
      </p:sp>
      <p:sp>
        <p:nvSpPr>
          <p:cNvPr id="7" name="TextBox 6"/>
          <p:cNvSpPr txBox="1"/>
          <p:nvPr/>
        </p:nvSpPr>
        <p:spPr>
          <a:xfrm>
            <a:off x="7467600" y="1619250"/>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BACKEND</a:t>
            </a:r>
          </a:p>
        </p:txBody>
      </p:sp>
      <p:sp>
        <p:nvSpPr>
          <p:cNvPr id="8" name="TextBox 7"/>
          <p:cNvSpPr txBox="1"/>
          <p:nvPr/>
        </p:nvSpPr>
        <p:spPr>
          <a:xfrm>
            <a:off x="8534400" y="1600200"/>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FastAPI · Python 3.12 · SQLAlchemy · Alembic</a:t>
            </a:r>
          </a:p>
        </p:txBody>
      </p:sp>
      <p:sp>
        <p:nvSpPr>
          <p:cNvPr id="9" name="Rectangle 8"/>
          <p:cNvSpPr/>
          <p:nvPr/>
        </p:nvSpPr>
        <p:spPr>
          <a:xfrm>
            <a:off x="7467600" y="1836610"/>
            <a:ext cx="4114800" cy="7144"/>
          </a:xfrm>
          <a:prstGeom prst="rect">
            <a:avLst/>
          </a:prstGeom>
          <a:solidFill>
            <a:srgbClr val="F0EFF7"/>
          </a:solidFill>
          <a:ln>
            <a:noFill/>
          </a:ln>
          <a:effectLst/>
        </p:spPr>
        <p:txBody>
          <a:bodyPr rtlCol="0" anchor="ctr" wrap="square"/>
          <a:lstStyle/>
          <a:p>
            <a:pPr algn="ctr"/>
          </a:p>
        </p:txBody>
      </p:sp>
      <p:sp>
        <p:nvSpPr>
          <p:cNvPr id="10" name="TextBox 9"/>
          <p:cNvSpPr txBox="1"/>
          <p:nvPr/>
        </p:nvSpPr>
        <p:spPr>
          <a:xfrm>
            <a:off x="7467600" y="1922336"/>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DATA</a:t>
            </a:r>
          </a:p>
        </p:txBody>
      </p:sp>
      <p:sp>
        <p:nvSpPr>
          <p:cNvPr id="11" name="TextBox 10"/>
          <p:cNvSpPr txBox="1"/>
          <p:nvPr/>
        </p:nvSpPr>
        <p:spPr>
          <a:xfrm>
            <a:off x="8534400" y="1903286"/>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PostgreSQL · vector embeddings for precedent search</a:t>
            </a:r>
          </a:p>
        </p:txBody>
      </p:sp>
      <p:sp>
        <p:nvSpPr>
          <p:cNvPr id="12" name="Rectangle 11"/>
          <p:cNvSpPr/>
          <p:nvPr/>
        </p:nvSpPr>
        <p:spPr>
          <a:xfrm>
            <a:off x="7467600" y="2139696"/>
            <a:ext cx="4114800" cy="7144"/>
          </a:xfrm>
          <a:prstGeom prst="rect">
            <a:avLst/>
          </a:prstGeom>
          <a:solidFill>
            <a:srgbClr val="F0EFF7"/>
          </a:solidFill>
          <a:ln>
            <a:noFill/>
          </a:ln>
          <a:effectLst/>
        </p:spPr>
        <p:txBody>
          <a:bodyPr rtlCol="0" anchor="ctr" wrap="square"/>
          <a:lstStyle/>
          <a:p>
            <a:pPr algn="ctr"/>
          </a:p>
        </p:txBody>
      </p:sp>
      <p:sp>
        <p:nvSpPr>
          <p:cNvPr id="13" name="TextBox 12"/>
          <p:cNvSpPr txBox="1"/>
          <p:nvPr/>
        </p:nvSpPr>
        <p:spPr>
          <a:xfrm>
            <a:off x="7467600" y="2225421"/>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FRONTEND</a:t>
            </a:r>
          </a:p>
        </p:txBody>
      </p:sp>
      <p:sp>
        <p:nvSpPr>
          <p:cNvPr id="14" name="TextBox 13"/>
          <p:cNvSpPr txBox="1"/>
          <p:nvPr/>
        </p:nvSpPr>
        <p:spPr>
          <a:xfrm>
            <a:off x="8534400" y="2206371"/>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Expo Web (React Native Web) · shared RN component library</a:t>
            </a:r>
          </a:p>
        </p:txBody>
      </p:sp>
      <p:sp>
        <p:nvSpPr>
          <p:cNvPr id="15" name="Rectangle 14"/>
          <p:cNvSpPr/>
          <p:nvPr/>
        </p:nvSpPr>
        <p:spPr>
          <a:xfrm>
            <a:off x="7467600" y="2602992"/>
            <a:ext cx="4114800" cy="7144"/>
          </a:xfrm>
          <a:prstGeom prst="rect">
            <a:avLst/>
          </a:prstGeom>
          <a:solidFill>
            <a:srgbClr val="F0EFF7"/>
          </a:solidFill>
          <a:ln>
            <a:noFill/>
          </a:ln>
          <a:effectLst/>
        </p:spPr>
        <p:txBody>
          <a:bodyPr rtlCol="0" anchor="ctr" wrap="square"/>
          <a:lstStyle/>
          <a:p>
            <a:pPr algn="ctr"/>
          </a:p>
        </p:txBody>
      </p:sp>
      <p:sp>
        <p:nvSpPr>
          <p:cNvPr id="16" name="TextBox 15"/>
          <p:cNvSpPr txBox="1"/>
          <p:nvPr/>
        </p:nvSpPr>
        <p:spPr>
          <a:xfrm>
            <a:off x="7467600" y="2688717"/>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MOBILE</a:t>
            </a:r>
          </a:p>
        </p:txBody>
      </p:sp>
      <p:sp>
        <p:nvSpPr>
          <p:cNvPr id="17" name="TextBox 16"/>
          <p:cNvSpPr txBox="1"/>
          <p:nvPr/>
        </p:nvSpPr>
        <p:spPr>
          <a:xfrm>
            <a:off x="8534400" y="2669667"/>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Expo native app · biometric auth · mobile approvals</a:t>
            </a:r>
          </a:p>
        </p:txBody>
      </p:sp>
      <p:sp>
        <p:nvSpPr>
          <p:cNvPr id="18" name="Rectangle 17"/>
          <p:cNvSpPr/>
          <p:nvPr/>
        </p:nvSpPr>
        <p:spPr>
          <a:xfrm>
            <a:off x="7467600" y="2906077"/>
            <a:ext cx="4114800" cy="7144"/>
          </a:xfrm>
          <a:prstGeom prst="rect">
            <a:avLst/>
          </a:prstGeom>
          <a:solidFill>
            <a:srgbClr val="F0EFF7"/>
          </a:solidFill>
          <a:ln>
            <a:noFill/>
          </a:ln>
          <a:effectLst/>
        </p:spPr>
        <p:txBody>
          <a:bodyPr rtlCol="0" anchor="ctr" wrap="square"/>
          <a:lstStyle/>
          <a:p>
            <a:pPr algn="ctr"/>
          </a:p>
        </p:txBody>
      </p:sp>
      <p:sp>
        <p:nvSpPr>
          <p:cNvPr id="19" name="TextBox 18"/>
          <p:cNvSpPr txBox="1"/>
          <p:nvPr/>
        </p:nvSpPr>
        <p:spPr>
          <a:xfrm>
            <a:off x="7467600" y="2991802"/>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AI</a:t>
            </a:r>
          </a:p>
        </p:txBody>
      </p:sp>
      <p:sp>
        <p:nvSpPr>
          <p:cNvPr id="20" name="TextBox 19"/>
          <p:cNvSpPr txBox="1"/>
          <p:nvPr/>
        </p:nvSpPr>
        <p:spPr>
          <a:xfrm>
            <a:off x="8534400" y="2972752"/>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Multi-provider LLM layer — OpenAI, Azure, Anthropic, Ollama</a:t>
            </a:r>
          </a:p>
        </p:txBody>
      </p:sp>
      <p:sp>
        <p:nvSpPr>
          <p:cNvPr id="21" name="Rectangle 20"/>
          <p:cNvSpPr/>
          <p:nvPr/>
        </p:nvSpPr>
        <p:spPr>
          <a:xfrm>
            <a:off x="7467600" y="3369373"/>
            <a:ext cx="4114800" cy="7144"/>
          </a:xfrm>
          <a:prstGeom prst="rect">
            <a:avLst/>
          </a:prstGeom>
          <a:solidFill>
            <a:srgbClr val="F0EFF7"/>
          </a:solidFill>
          <a:ln>
            <a:noFill/>
          </a:ln>
          <a:effectLst/>
        </p:spPr>
        <p:txBody>
          <a:bodyPr rtlCol="0" anchor="ctr" wrap="square"/>
          <a:lstStyle/>
          <a:p>
            <a:pPr algn="ctr"/>
          </a:p>
        </p:txBody>
      </p:sp>
      <p:sp>
        <p:nvSpPr>
          <p:cNvPr id="22" name="TextBox 21"/>
          <p:cNvSpPr txBox="1"/>
          <p:nvPr/>
        </p:nvSpPr>
        <p:spPr>
          <a:xfrm>
            <a:off x="7467600" y="3455098"/>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MONOREPO</a:t>
            </a:r>
          </a:p>
        </p:txBody>
      </p:sp>
      <p:sp>
        <p:nvSpPr>
          <p:cNvPr id="23" name="TextBox 22"/>
          <p:cNvSpPr txBox="1"/>
          <p:nvPr/>
        </p:nvSpPr>
        <p:spPr>
          <a:xfrm>
            <a:off x="8534400" y="3436048"/>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pnpm workspaces · apps/api, apps/web, apps/mobile, packages/*</a:t>
            </a:r>
          </a:p>
        </p:txBody>
      </p:sp>
      <p:sp>
        <p:nvSpPr>
          <p:cNvPr id="24" name="Rectangle 23"/>
          <p:cNvSpPr/>
          <p:nvPr/>
        </p:nvSpPr>
        <p:spPr>
          <a:xfrm>
            <a:off x="7467600" y="3832669"/>
            <a:ext cx="4114800" cy="7144"/>
          </a:xfrm>
          <a:prstGeom prst="rect">
            <a:avLst/>
          </a:prstGeom>
          <a:solidFill>
            <a:srgbClr val="F0EFF7"/>
          </a:solidFill>
          <a:ln>
            <a:noFill/>
          </a:ln>
          <a:effectLst/>
        </p:spPr>
        <p:txBody>
          <a:bodyPr rtlCol="0" anchor="ctr" wrap="square"/>
          <a:lstStyle/>
          <a:p>
            <a:pPr algn="ctr"/>
          </a:p>
        </p:txBody>
      </p:sp>
      <p:sp>
        <p:nvSpPr>
          <p:cNvPr id="25" name="TextBox 24"/>
          <p:cNvSpPr txBox="1"/>
          <p:nvPr/>
        </p:nvSpPr>
        <p:spPr>
          <a:xfrm>
            <a:off x="7467600" y="4032694"/>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NOTABLE</a:t>
            </a:r>
          </a:p>
        </p:txBody>
      </p:sp>
      <p:sp>
        <p:nvSpPr>
          <p:cNvPr id="26" name="TextBox 25"/>
          <p:cNvSpPr txBox="1"/>
          <p:nvPr/>
        </p:nvSpPr>
        <p:spPr>
          <a:xfrm>
            <a:off x="7467600" y="4242244"/>
            <a:ext cx="4114800" cy="2476500"/>
          </a:xfrm>
          <a:prstGeom prst="rect">
            <a:avLst/>
          </a:prstGeom>
          <a:noFill/>
        </p:spPr>
        <p:txBody>
          <a:bodyPr wrap="square" lIns="0" rIns="0" tIns="0" bIns="0" anchor="t">
            <a:spAutoFit/>
          </a:bodyPr>
          <a:lstStyle/>
          <a:p>
            <a:pPr marL="190500" indent="-190500">
              <a:lnSpc>
                <a:spcPct val="142000"/>
              </a:lnSpc>
              <a:spcAft>
                <a:spcPts val="600"/>
              </a:spcAft>
              <a:buClr>
                <a:srgbClr val="7C3AED"/>
              </a:buClr>
              <a:buFont typeface="Arial"/>
              <a:buChar char="›"/>
            </a:pPr>
            <a:r>
              <a:rPr sz="869" b="0">
                <a:solidFill>
                  <a:srgbClr val="3A3A5C"/>
                </a:solidFill>
                <a:latin typeface="Arial"/>
              </a:rPr>
              <a:t>Compliance by construction — append-only audit log, SHA-256 checksum chaining, e-signatures, RBAC</a:t>
            </a:r>
          </a:p>
          <a:p>
            <a:pPr marL="190500" indent="-190500">
              <a:lnSpc>
                <a:spcPct val="142000"/>
              </a:lnSpc>
              <a:spcAft>
                <a:spcPts val="600"/>
              </a:spcAft>
              <a:buClr>
                <a:srgbClr val="7C3AED"/>
              </a:buClr>
              <a:buFont typeface="Arial"/>
              <a:buChar char="›"/>
            </a:pPr>
            <a:r>
              <a:rPr sz="869" b="0">
                <a:solidFill>
                  <a:srgbClr val="3A3A5C"/>
                </a:solidFill>
                <a:latin typeface="Arial"/>
              </a:rPr>
              <a:t>Integration hub with bidirectional connectors for Medidata Rave, Veeva Vault, Oracle InForm and SAS</a:t>
            </a:r>
          </a:p>
          <a:p>
            <a:pPr marL="190500" indent="-190500">
              <a:lnSpc>
                <a:spcPct val="142000"/>
              </a:lnSpc>
              <a:spcAft>
                <a:spcPts val="600"/>
              </a:spcAft>
              <a:buClr>
                <a:srgbClr val="7C3AED"/>
              </a:buClr>
              <a:buFont typeface="Arial"/>
              <a:buChar char="›"/>
            </a:pPr>
            <a:r>
              <a:rPr sz="869" b="0">
                <a:solidFill>
                  <a:srgbClr val="3A3A5C"/>
                </a:solidFill>
                <a:latin typeface="Arial"/>
              </a:rPr>
              <a:t>Real-world data connectors — FDA FAERS, openFDA, PubMed, CMS — with OMOP CDM and FHIR R4 support</a:t>
            </a:r>
          </a:p>
          <a:p>
            <a:pPr marL="190500" indent="-190500">
              <a:lnSpc>
                <a:spcPct val="142000"/>
              </a:lnSpc>
              <a:spcAft>
                <a:spcPts val="600"/>
              </a:spcAft>
              <a:buClr>
                <a:srgbClr val="7C3AED"/>
              </a:buClr>
              <a:buFont typeface="Arial"/>
              <a:buChar char="›"/>
            </a:pPr>
            <a:r>
              <a:rPr sz="869" b="0">
                <a:solidFill>
                  <a:srgbClr val="3A3A5C"/>
                </a:solidFill>
                <a:latin typeface="Arial"/>
              </a:rPr>
              <a:t>Eight interface languages with multilingual embeddings, so precedent search works across regions</a:t>
            </a:r>
          </a:p>
        </p:txBody>
      </p:sp>
      <p:sp>
        <p:nvSpPr>
          <p:cNvPr id="27" name="TextBox 2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8" name="TextBox 2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t-sentinel.png"/>
          <p:cNvPicPr>
            <a:picLocks noChangeAspect="1"/>
          </p:cNvPicPr>
          <p:nvPr/>
        </p:nvPicPr>
        <p:blipFill>
          <a:blip r:embed="rId2"/>
          <a:stretch>
            <a:fillRect/>
          </a:stretch>
        </p:blipFill>
        <p:spPr>
          <a:xfrm>
            <a:off x="9963150" y="381000"/>
            <a:ext cx="1676400" cy="1676400"/>
          </a:xfrm>
          <a:prstGeom prst="rect">
            <a:avLst/>
          </a:prstGeom>
        </p:spPr>
      </p:pic>
      <p:sp>
        <p:nvSpPr>
          <p:cNvPr id="3" name="TextBox 2"/>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05</a:t>
            </a:r>
          </a:p>
        </p:txBody>
      </p:sp>
      <p:sp>
        <p:nvSpPr>
          <p:cNvPr id="4" name="TextBox 3"/>
          <p:cNvSpPr txBox="1"/>
          <p:nvPr/>
        </p:nvSpPr>
        <p:spPr>
          <a:xfrm>
            <a:off x="609600" y="6858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Sentinel</a:t>
            </a:r>
          </a:p>
        </p:txBody>
      </p:sp>
      <p:sp>
        <p:nvSpPr>
          <p:cNvPr id="5" name="TextBox 4"/>
          <p:cNvSpPr txBox="1"/>
          <p:nvPr/>
        </p:nvSpPr>
        <p:spPr>
          <a:xfrm>
            <a:off x="609600" y="933450"/>
            <a:ext cx="8953500" cy="419100"/>
          </a:xfrm>
          <a:prstGeom prst="rect">
            <a:avLst/>
          </a:prstGeom>
          <a:noFill/>
        </p:spPr>
        <p:txBody>
          <a:bodyPr wrap="square" lIns="0" rIns="0" tIns="0" bIns="0" anchor="t">
            <a:spAutoFit/>
          </a:bodyPr>
          <a:lstStyle/>
          <a:p>
            <a:pPr>
              <a:lnSpc>
                <a:spcPct val="110000"/>
              </a:lnSpc>
            </a:pPr>
            <a:r>
              <a:rPr sz="2550" b="1">
                <a:solidFill>
                  <a:srgbClr val="0A0A1A"/>
                </a:solidFill>
                <a:latin typeface="Arial"/>
              </a:rPr>
              <a:t>From drone survey to closed work order</a:t>
            </a:r>
          </a:p>
        </p:txBody>
      </p:sp>
      <p:sp>
        <p:nvSpPr>
          <p:cNvPr id="6" name="TextBox 5"/>
          <p:cNvSpPr txBox="1"/>
          <p:nvPr/>
        </p:nvSpPr>
        <p:spPr>
          <a:xfrm>
            <a:off x="609600" y="1409700"/>
            <a:ext cx="10972800" cy="171450"/>
          </a:xfrm>
          <a:prstGeom prst="rect">
            <a:avLst/>
          </a:prstGeom>
          <a:noFill/>
        </p:spPr>
        <p:txBody>
          <a:bodyPr wrap="square" lIns="0" rIns="0" tIns="0" bIns="0" anchor="t">
            <a:spAutoFit/>
          </a:bodyPr>
          <a:lstStyle/>
          <a:p>
            <a:pPr>
              <a:lnSpc>
                <a:spcPct val="135000"/>
              </a:lnSpc>
            </a:pPr>
            <a:r>
              <a:rPr sz="600" b="1" spc="120">
                <a:solidFill>
                  <a:srgbClr val="8888A0"/>
                </a:solidFill>
                <a:latin typeface="Courier New"/>
              </a:rPr>
              <a:t>DRONE OPERATIONS · INFRASTRUCTURE INSPECTION</a:t>
            </a:r>
          </a:p>
        </p:txBody>
      </p:sp>
      <p:sp>
        <p:nvSpPr>
          <p:cNvPr id="7" name="TextBox 6"/>
          <p:cNvSpPr txBox="1"/>
          <p:nvPr/>
        </p:nvSpPr>
        <p:spPr>
          <a:xfrm>
            <a:off x="609600" y="1771650"/>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CONTEXT</a:t>
            </a:r>
          </a:p>
        </p:txBody>
      </p:sp>
      <p:sp>
        <p:nvSpPr>
          <p:cNvPr id="8" name="TextBox 7"/>
          <p:cNvSpPr txBox="1"/>
          <p:nvPr/>
        </p:nvSpPr>
        <p:spPr>
          <a:xfrm>
            <a:off x="609600" y="1962150"/>
            <a:ext cx="3238500" cy="1143000"/>
          </a:xfrm>
          <a:prstGeom prst="rect">
            <a:avLst/>
          </a:prstGeom>
          <a:noFill/>
        </p:spPr>
        <p:txBody>
          <a:bodyPr wrap="square" lIns="0" rIns="0" tIns="0" bIns="0" anchor="t">
            <a:spAutoFit/>
          </a:bodyPr>
          <a:lstStyle/>
          <a:p>
            <a:pPr>
              <a:lnSpc>
                <a:spcPct val="155000"/>
              </a:lnSpc>
            </a:pPr>
            <a:r>
              <a:rPr sz="960" b="0">
                <a:solidFill>
                  <a:srgbClr val="64648A"/>
                </a:solidFill>
                <a:latin typeface="Arial"/>
              </a:rPr>
              <a:t>AI-powered infrastructure inspection platform. Drones fly the asset, computer vision finds the defects, and the platform turns them into tracked, assigned, SLA-bound work.</a:t>
            </a:r>
          </a:p>
        </p:txBody>
      </p:sp>
      <p:sp>
        <p:nvSpPr>
          <p:cNvPr id="9" name="TextBox 8"/>
          <p:cNvSpPr txBox="1"/>
          <p:nvPr/>
        </p:nvSpPr>
        <p:spPr>
          <a:xfrm>
            <a:off x="609600" y="2990088"/>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PROBLEM</a:t>
            </a:r>
          </a:p>
        </p:txBody>
      </p:sp>
      <p:sp>
        <p:nvSpPr>
          <p:cNvPr id="10" name="TextBox 9"/>
          <p:cNvSpPr txBox="1"/>
          <p:nvPr/>
        </p:nvSpPr>
        <p:spPr>
          <a:xfrm>
            <a:off x="609600" y="3180588"/>
            <a:ext cx="3238500" cy="1524000"/>
          </a:xfrm>
          <a:prstGeom prst="rect">
            <a:avLst/>
          </a:prstGeom>
          <a:noFill/>
        </p:spPr>
        <p:txBody>
          <a:bodyPr wrap="square" lIns="0" rIns="0" tIns="0" bIns="0" anchor="t">
            <a:spAutoFit/>
          </a:bodyPr>
          <a:lstStyle/>
          <a:p>
            <a:pPr>
              <a:lnSpc>
                <a:spcPct val="155000"/>
              </a:lnSpc>
            </a:pPr>
            <a:r>
              <a:rPr sz="960" b="0">
                <a:solidFill>
                  <a:srgbClr val="64648A"/>
                </a:solidFill>
                <a:latin typeface="Arial"/>
              </a:rPr>
              <a:t>Infrastructure inspection is manual, slow and hazardous. The findings end up in photo folders and spreadsheets, disconnected from the crews who have to fix anything — so nothing is provably closed out.</a:t>
            </a:r>
          </a:p>
        </p:txBody>
      </p:sp>
      <p:sp>
        <p:nvSpPr>
          <p:cNvPr id="11" name="TextBox 10"/>
          <p:cNvSpPr txBox="1"/>
          <p:nvPr/>
        </p:nvSpPr>
        <p:spPr>
          <a:xfrm>
            <a:off x="4171950" y="1771650"/>
            <a:ext cx="6667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WE BUILT</a:t>
            </a:r>
          </a:p>
        </p:txBody>
      </p:sp>
      <p:sp>
        <p:nvSpPr>
          <p:cNvPr id="12" name="TextBox 11"/>
          <p:cNvSpPr txBox="1"/>
          <p:nvPr/>
        </p:nvSpPr>
        <p:spPr>
          <a:xfrm>
            <a:off x="4171950" y="1962150"/>
            <a:ext cx="7410450" cy="3238500"/>
          </a:xfrm>
          <a:prstGeom prst="rect">
            <a:avLst/>
          </a:prstGeom>
          <a:noFill/>
        </p:spPr>
        <p:txBody>
          <a:bodyPr wrap="square" lIns="0" rIns="0" tIns="0" bIns="0" anchor="t">
            <a:spAutoFit/>
          </a:bodyPr>
          <a:lstStyle/>
          <a:p>
            <a:pPr marL="190500" indent="-190500">
              <a:lnSpc>
                <a:spcPct val="142000"/>
              </a:lnSpc>
              <a:spcAft>
                <a:spcPts val="675"/>
              </a:spcAft>
              <a:buClr>
                <a:srgbClr val="7C3AED"/>
              </a:buClr>
              <a:buFont typeface="Arial"/>
              <a:buChar char="▪"/>
            </a:pPr>
            <a:r>
              <a:rPr sz="960" b="0">
                <a:solidFill>
                  <a:srgbClr val="3A3A5C"/>
                </a:solidFill>
                <a:latin typeface="Arial"/>
              </a:rPr>
              <a:t>The core loop: survey → visual and thermal imagery → YOLO26 detection → draft annotations → inspector review → work orders → field remediation → PDF report</a:t>
            </a:r>
          </a:p>
          <a:p>
            <a:pPr marL="190500" indent="-190500">
              <a:lnSpc>
                <a:spcPct val="142000"/>
              </a:lnSpc>
              <a:spcAft>
                <a:spcPts val="675"/>
              </a:spcAft>
              <a:buClr>
                <a:srgbClr val="7C3AED"/>
              </a:buClr>
              <a:buFont typeface="Arial"/>
              <a:buChar char="▪"/>
            </a:pPr>
            <a:r>
              <a:rPr sz="960" b="0">
                <a:solidFill>
                  <a:srgbClr val="3A3A5C"/>
                </a:solidFill>
                <a:latin typeface="Arial"/>
              </a:rPr>
              <a:t>Geospatial context — KML/Shapefile/GeoJSON import, LIDAR point clouds, corridor encroachment and terrain-risk analytics</a:t>
            </a:r>
          </a:p>
          <a:p>
            <a:pPr marL="190500" indent="-190500">
              <a:lnSpc>
                <a:spcPct val="142000"/>
              </a:lnSpc>
              <a:spcAft>
                <a:spcPts val="675"/>
              </a:spcAft>
              <a:buClr>
                <a:srgbClr val="7C3AED"/>
              </a:buClr>
              <a:buFont typeface="Arial"/>
              <a:buChar char="▪"/>
            </a:pPr>
            <a:r>
              <a:rPr sz="960" b="0">
                <a:solidFill>
                  <a:srgbClr val="3A3A5C"/>
                </a:solidFill>
                <a:latin typeface="Arial"/>
              </a:rPr>
              <a:t>Photogrammetry via NodeODM: orthophotos, digital surface models and textured 3D models, served as map tiles and an in-browser point-cloud viewer</a:t>
            </a:r>
          </a:p>
          <a:p>
            <a:pPr marL="190500" indent="-190500">
              <a:lnSpc>
                <a:spcPct val="142000"/>
              </a:lnSpc>
              <a:spcAft>
                <a:spcPts val="675"/>
              </a:spcAft>
              <a:buClr>
                <a:srgbClr val="7C3AED"/>
              </a:buClr>
              <a:buFont typeface="Arial"/>
              <a:buChar char="▪"/>
            </a:pPr>
            <a:r>
              <a:rPr sz="960" b="0">
                <a:solidFill>
                  <a:srgbClr val="3A3A5C"/>
                </a:solidFill>
                <a:latin typeface="Arial"/>
              </a:rPr>
              <a:t>Drone operations — flight planning with safety validation, no-fly checks against FAA/AirMap, autonomous and swarm missions</a:t>
            </a:r>
          </a:p>
          <a:p>
            <a:pPr marL="190500" indent="-190500">
              <a:lnSpc>
                <a:spcPct val="142000"/>
              </a:lnSpc>
              <a:spcAft>
                <a:spcPts val="675"/>
              </a:spcAft>
              <a:buClr>
                <a:srgbClr val="7C3AED"/>
              </a:buClr>
              <a:buFont typeface="Arial"/>
              <a:buChar char="▪"/>
            </a:pPr>
            <a:r>
              <a:rPr sz="960" b="0">
                <a:solidFill>
                  <a:srgbClr val="3A3A5C"/>
                </a:solidFill>
                <a:latin typeface="Arial"/>
              </a:rPr>
              <a:t>A PX4 SITL simulator so missions are tested in software before any aircraft leaves the ground</a:t>
            </a:r>
          </a:p>
          <a:p>
            <a:pPr marL="190500" indent="-190500">
              <a:lnSpc>
                <a:spcPct val="142000"/>
              </a:lnSpc>
              <a:spcAft>
                <a:spcPts val="675"/>
              </a:spcAft>
              <a:buClr>
                <a:srgbClr val="7C3AED"/>
              </a:buClr>
              <a:buFont typeface="Arial"/>
              <a:buChar char="▪"/>
            </a:pPr>
            <a:r>
              <a:rPr sz="960" b="0">
                <a:solidFill>
                  <a:srgbClr val="3A3A5C"/>
                </a:solidFill>
                <a:latin typeface="Arial"/>
              </a:rPr>
              <a:t>Web, native mobile and a public marketing site, all from one Nx monorepo</a:t>
            </a:r>
          </a:p>
        </p:txBody>
      </p:sp>
      <p:sp>
        <p:nvSpPr>
          <p:cNvPr id="13" name="Rectangle 12"/>
          <p:cNvSpPr/>
          <p:nvPr/>
        </p:nvSpPr>
        <p:spPr>
          <a:xfrm>
            <a:off x="609600" y="5295900"/>
            <a:ext cx="10972800" cy="990600"/>
          </a:xfrm>
          <a:prstGeom prst="rect">
            <a:avLst/>
          </a:prstGeom>
          <a:solidFill>
            <a:srgbClr val="FBFAFE"/>
          </a:solidFill>
          <a:ln>
            <a:noFill/>
          </a:ln>
          <a:effectLst/>
        </p:spPr>
        <p:txBody>
          <a:bodyPr rtlCol="0" anchor="ctr" wrap="square"/>
          <a:lstStyle/>
          <a:p>
            <a:pPr algn="ctr"/>
          </a:p>
        </p:txBody>
      </p:sp>
      <p:sp>
        <p:nvSpPr>
          <p:cNvPr id="14" name="Rectangle 13"/>
          <p:cNvSpPr/>
          <p:nvPr/>
        </p:nvSpPr>
        <p:spPr>
          <a:xfrm>
            <a:off x="609600" y="5295900"/>
            <a:ext cx="28575" cy="990600"/>
          </a:xfrm>
          <a:prstGeom prst="rect">
            <a:avLst/>
          </a:prstGeom>
          <a:solidFill>
            <a:srgbClr val="7C3AED"/>
          </a:solidFill>
          <a:ln>
            <a:noFill/>
          </a:ln>
          <a:effectLst/>
        </p:spPr>
        <p:txBody>
          <a:bodyPr rtlCol="0" anchor="ctr" wrap="square"/>
          <a:lstStyle/>
          <a:p>
            <a:pPr algn="ctr"/>
          </a:p>
        </p:txBody>
      </p:sp>
      <p:sp>
        <p:nvSpPr>
          <p:cNvPr id="15" name="TextBox 14"/>
          <p:cNvSpPr txBox="1"/>
          <p:nvPr/>
        </p:nvSpPr>
        <p:spPr>
          <a:xfrm>
            <a:off x="800100" y="5448300"/>
            <a:ext cx="57150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WHY IT IS HARD</a:t>
            </a:r>
          </a:p>
        </p:txBody>
      </p:sp>
      <p:sp>
        <p:nvSpPr>
          <p:cNvPr id="16" name="TextBox 15"/>
          <p:cNvSpPr txBox="1"/>
          <p:nvPr/>
        </p:nvSpPr>
        <p:spPr>
          <a:xfrm>
            <a:off x="800100" y="5638800"/>
            <a:ext cx="10401300" cy="571500"/>
          </a:xfrm>
          <a:prstGeom prst="rect">
            <a:avLst/>
          </a:prstGeom>
          <a:noFill/>
        </p:spPr>
        <p:txBody>
          <a:bodyPr wrap="square" lIns="0" rIns="0" tIns="0" bIns="0" anchor="t">
            <a:spAutoFit/>
          </a:bodyPr>
          <a:lstStyle/>
          <a:p>
            <a:pPr>
              <a:lnSpc>
                <a:spcPct val="150000"/>
              </a:lnSpc>
            </a:pPr>
            <a:r>
              <a:rPr sz="960" b="0">
                <a:solidFill>
                  <a:srgbClr val="3A3A5C"/>
                </a:solidFill>
                <a:latin typeface="Arial"/>
              </a:rPr>
              <a:t>The AI improves itself. Every annotation an inspector approves becomes labelled training data; the model is fine-tuned and redeployed. Human review is not a cost centre in this system — it is the training pipeline.</a:t>
            </a:r>
          </a:p>
        </p:txBody>
      </p:sp>
      <p:sp>
        <p:nvSpPr>
          <p:cNvPr id="17" name="TextBox 1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8" name="TextBox 1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Sentinel</a:t>
            </a:r>
          </a:p>
        </p:txBody>
      </p:sp>
      <p:sp>
        <p:nvSpPr>
          <p:cNvPr id="3" name="TextBox 2"/>
          <p:cNvSpPr txBox="1"/>
          <p:nvPr/>
        </p:nvSpPr>
        <p:spPr>
          <a:xfrm>
            <a:off x="609600" y="723900"/>
            <a:ext cx="8572500" cy="419100"/>
          </a:xfrm>
          <a:prstGeom prst="rect">
            <a:avLst/>
          </a:prstGeom>
          <a:noFill/>
        </p:spPr>
        <p:txBody>
          <a:bodyPr wrap="square" lIns="0" rIns="0" tIns="0" bIns="0" anchor="t">
            <a:spAutoFit/>
          </a:bodyPr>
          <a:lstStyle/>
          <a:p>
            <a:pPr>
              <a:lnSpc>
                <a:spcPct val="135000"/>
              </a:lnSpc>
            </a:pPr>
            <a:r>
              <a:rPr sz="2100" b="1">
                <a:solidFill>
                  <a:srgbClr val="0A0A1A"/>
                </a:solidFill>
                <a:latin typeface="Arial"/>
              </a:rPr>
              <a:t>Architecture &amp; stack</a:t>
            </a:r>
          </a:p>
        </p:txBody>
      </p:sp>
      <p:sp>
        <p:nvSpPr>
          <p:cNvPr id="4" name="Rounded Rectangle 3"/>
          <p:cNvSpPr/>
          <p:nvPr/>
        </p:nvSpPr>
        <p:spPr>
          <a:xfrm>
            <a:off x="609600" y="1276350"/>
            <a:ext cx="514350" cy="28575"/>
          </a:xfrm>
          <a:prstGeom prst="roundRect">
            <a:avLst>
              <a:gd name="adj" fmla="val 50000"/>
            </a:avLst>
          </a:prstGeom>
          <a:solidFill>
            <a:srgbClr val="7C3AED"/>
          </a:solidFill>
          <a:ln>
            <a:noFill/>
          </a:ln>
          <a:effectLst/>
        </p:spPr>
        <p:txBody>
          <a:bodyPr rtlCol="0" anchor="ctr" wrap="square"/>
          <a:lstStyle/>
          <a:p>
            <a:pPr algn="ctr"/>
          </a:p>
        </p:txBody>
      </p:sp>
      <p:pic>
        <p:nvPicPr>
          <p:cNvPr id="5" name="Picture 4" descr="diagram-sentinel.png"/>
          <p:cNvPicPr>
            <a:picLocks noChangeAspect="1"/>
          </p:cNvPicPr>
          <p:nvPr/>
        </p:nvPicPr>
        <p:blipFill>
          <a:blip r:embed="rId2"/>
          <a:stretch>
            <a:fillRect/>
          </a:stretch>
        </p:blipFill>
        <p:spPr>
          <a:xfrm>
            <a:off x="609600" y="1428750"/>
            <a:ext cx="6572250" cy="4572000"/>
          </a:xfrm>
          <a:prstGeom prst="rect">
            <a:avLst/>
          </a:prstGeom>
        </p:spPr>
      </p:pic>
      <p:sp>
        <p:nvSpPr>
          <p:cNvPr id="6" name="TextBox 5"/>
          <p:cNvSpPr txBox="1"/>
          <p:nvPr/>
        </p:nvSpPr>
        <p:spPr>
          <a:xfrm>
            <a:off x="7467600" y="1390650"/>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STACK</a:t>
            </a:r>
          </a:p>
        </p:txBody>
      </p:sp>
      <p:sp>
        <p:nvSpPr>
          <p:cNvPr id="7" name="TextBox 6"/>
          <p:cNvSpPr txBox="1"/>
          <p:nvPr/>
        </p:nvSpPr>
        <p:spPr>
          <a:xfrm>
            <a:off x="7467600" y="1619250"/>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FRONTEND</a:t>
            </a:r>
          </a:p>
        </p:txBody>
      </p:sp>
      <p:sp>
        <p:nvSpPr>
          <p:cNvPr id="8" name="TextBox 7"/>
          <p:cNvSpPr txBox="1"/>
          <p:nvPr/>
        </p:nvSpPr>
        <p:spPr>
          <a:xfrm>
            <a:off x="8534400" y="1600200"/>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React 19 · TypeScript 5.5 · Vite 6 · Tailwind 4 · Leaflet · Three.js · Konva</a:t>
            </a:r>
          </a:p>
        </p:txBody>
      </p:sp>
      <p:sp>
        <p:nvSpPr>
          <p:cNvPr id="9" name="Rectangle 8"/>
          <p:cNvSpPr/>
          <p:nvPr/>
        </p:nvSpPr>
        <p:spPr>
          <a:xfrm>
            <a:off x="7467600" y="1996821"/>
            <a:ext cx="4114800" cy="7144"/>
          </a:xfrm>
          <a:prstGeom prst="rect">
            <a:avLst/>
          </a:prstGeom>
          <a:solidFill>
            <a:srgbClr val="F0EFF7"/>
          </a:solidFill>
          <a:ln>
            <a:noFill/>
          </a:ln>
          <a:effectLst/>
        </p:spPr>
        <p:txBody>
          <a:bodyPr rtlCol="0" anchor="ctr" wrap="square"/>
          <a:lstStyle/>
          <a:p>
            <a:pPr algn="ctr"/>
          </a:p>
        </p:txBody>
      </p:sp>
      <p:sp>
        <p:nvSpPr>
          <p:cNvPr id="10" name="TextBox 9"/>
          <p:cNvSpPr txBox="1"/>
          <p:nvPr/>
        </p:nvSpPr>
        <p:spPr>
          <a:xfrm>
            <a:off x="7467600" y="2082546"/>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BACKEND</a:t>
            </a:r>
          </a:p>
        </p:txBody>
      </p:sp>
      <p:sp>
        <p:nvSpPr>
          <p:cNvPr id="11" name="TextBox 10"/>
          <p:cNvSpPr txBox="1"/>
          <p:nvPr/>
        </p:nvSpPr>
        <p:spPr>
          <a:xfrm>
            <a:off x="8534400" y="2063496"/>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Python 3.11 · FastAPI · SQLAlchemy 2 · Pydantic 2 · Alembic</a:t>
            </a:r>
          </a:p>
        </p:txBody>
      </p:sp>
      <p:sp>
        <p:nvSpPr>
          <p:cNvPr id="12" name="Rectangle 11"/>
          <p:cNvSpPr/>
          <p:nvPr/>
        </p:nvSpPr>
        <p:spPr>
          <a:xfrm>
            <a:off x="7467600" y="2460117"/>
            <a:ext cx="4114800" cy="7144"/>
          </a:xfrm>
          <a:prstGeom prst="rect">
            <a:avLst/>
          </a:prstGeom>
          <a:solidFill>
            <a:srgbClr val="F0EFF7"/>
          </a:solidFill>
          <a:ln>
            <a:noFill/>
          </a:ln>
          <a:effectLst/>
        </p:spPr>
        <p:txBody>
          <a:bodyPr rtlCol="0" anchor="ctr" wrap="square"/>
          <a:lstStyle/>
          <a:p>
            <a:pPr algn="ctr"/>
          </a:p>
        </p:txBody>
      </p:sp>
      <p:sp>
        <p:nvSpPr>
          <p:cNvPr id="13" name="TextBox 12"/>
          <p:cNvSpPr txBox="1"/>
          <p:nvPr/>
        </p:nvSpPr>
        <p:spPr>
          <a:xfrm>
            <a:off x="7467600" y="2545842"/>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DATABASE</a:t>
            </a:r>
          </a:p>
        </p:txBody>
      </p:sp>
      <p:sp>
        <p:nvSpPr>
          <p:cNvPr id="14" name="TextBox 13"/>
          <p:cNvSpPr txBox="1"/>
          <p:nvPr/>
        </p:nvSpPr>
        <p:spPr>
          <a:xfrm>
            <a:off x="8534400" y="2526792"/>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PostgreSQL + PostGIS</a:t>
            </a:r>
          </a:p>
        </p:txBody>
      </p:sp>
      <p:sp>
        <p:nvSpPr>
          <p:cNvPr id="15" name="Rectangle 14"/>
          <p:cNvSpPr/>
          <p:nvPr/>
        </p:nvSpPr>
        <p:spPr>
          <a:xfrm>
            <a:off x="7467600" y="2763202"/>
            <a:ext cx="4114800" cy="7144"/>
          </a:xfrm>
          <a:prstGeom prst="rect">
            <a:avLst/>
          </a:prstGeom>
          <a:solidFill>
            <a:srgbClr val="F0EFF7"/>
          </a:solidFill>
          <a:ln>
            <a:noFill/>
          </a:ln>
          <a:effectLst/>
        </p:spPr>
        <p:txBody>
          <a:bodyPr rtlCol="0" anchor="ctr" wrap="square"/>
          <a:lstStyle/>
          <a:p>
            <a:pPr algn="ctr"/>
          </a:p>
        </p:txBody>
      </p:sp>
      <p:sp>
        <p:nvSpPr>
          <p:cNvPr id="16" name="TextBox 15"/>
          <p:cNvSpPr txBox="1"/>
          <p:nvPr/>
        </p:nvSpPr>
        <p:spPr>
          <a:xfrm>
            <a:off x="7467600" y="2848927"/>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ASYNC</a:t>
            </a:r>
          </a:p>
        </p:txBody>
      </p:sp>
      <p:sp>
        <p:nvSpPr>
          <p:cNvPr id="17" name="TextBox 16"/>
          <p:cNvSpPr txBox="1"/>
          <p:nvPr/>
        </p:nvSpPr>
        <p:spPr>
          <a:xfrm>
            <a:off x="8534400" y="2829877"/>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Celery + Redis — queues for AI, reports, work orders, LIDAR</a:t>
            </a:r>
          </a:p>
        </p:txBody>
      </p:sp>
      <p:sp>
        <p:nvSpPr>
          <p:cNvPr id="18" name="Rectangle 17"/>
          <p:cNvSpPr/>
          <p:nvPr/>
        </p:nvSpPr>
        <p:spPr>
          <a:xfrm>
            <a:off x="7467600" y="3226498"/>
            <a:ext cx="4114800" cy="7144"/>
          </a:xfrm>
          <a:prstGeom prst="rect">
            <a:avLst/>
          </a:prstGeom>
          <a:solidFill>
            <a:srgbClr val="F0EFF7"/>
          </a:solidFill>
          <a:ln>
            <a:noFill/>
          </a:ln>
          <a:effectLst/>
        </p:spPr>
        <p:txBody>
          <a:bodyPr rtlCol="0" anchor="ctr" wrap="square"/>
          <a:lstStyle/>
          <a:p>
            <a:pPr algn="ctr"/>
          </a:p>
        </p:txBody>
      </p:sp>
      <p:sp>
        <p:nvSpPr>
          <p:cNvPr id="19" name="TextBox 18"/>
          <p:cNvSpPr txBox="1"/>
          <p:nvPr/>
        </p:nvSpPr>
        <p:spPr>
          <a:xfrm>
            <a:off x="7467600" y="3312223"/>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AI &amp; IMAGING</a:t>
            </a:r>
          </a:p>
        </p:txBody>
      </p:sp>
      <p:sp>
        <p:nvSpPr>
          <p:cNvPr id="20" name="TextBox 19"/>
          <p:cNvSpPr txBox="1"/>
          <p:nvPr/>
        </p:nvSpPr>
        <p:spPr>
          <a:xfrm>
            <a:off x="8534400" y="3293173"/>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YOLO26 via Ultralytics (separate visual and thermal models) · NodeODM</a:t>
            </a:r>
          </a:p>
        </p:txBody>
      </p:sp>
      <p:sp>
        <p:nvSpPr>
          <p:cNvPr id="21" name="Rectangle 20"/>
          <p:cNvSpPr/>
          <p:nvPr/>
        </p:nvSpPr>
        <p:spPr>
          <a:xfrm>
            <a:off x="7467600" y="3689794"/>
            <a:ext cx="4114800" cy="7144"/>
          </a:xfrm>
          <a:prstGeom prst="rect">
            <a:avLst/>
          </a:prstGeom>
          <a:solidFill>
            <a:srgbClr val="F0EFF7"/>
          </a:solidFill>
          <a:ln>
            <a:noFill/>
          </a:ln>
          <a:effectLst/>
        </p:spPr>
        <p:txBody>
          <a:bodyPr rtlCol="0" anchor="ctr" wrap="square"/>
          <a:lstStyle/>
          <a:p>
            <a:pPr algn="ctr"/>
          </a:p>
        </p:txBody>
      </p:sp>
      <p:sp>
        <p:nvSpPr>
          <p:cNvPr id="22" name="TextBox 21"/>
          <p:cNvSpPr txBox="1"/>
          <p:nvPr/>
        </p:nvSpPr>
        <p:spPr>
          <a:xfrm>
            <a:off x="7467600" y="3775519"/>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PLATFORM</a:t>
            </a:r>
          </a:p>
        </p:txBody>
      </p:sp>
      <p:sp>
        <p:nvSpPr>
          <p:cNvPr id="23" name="TextBox 22"/>
          <p:cNvSpPr txBox="1"/>
          <p:nvPr/>
        </p:nvSpPr>
        <p:spPr>
          <a:xfrm>
            <a:off x="8534400" y="3756469"/>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MinIO object storage · React Native/Expo mobile · Astro marketing · Nx</a:t>
            </a:r>
          </a:p>
        </p:txBody>
      </p:sp>
      <p:sp>
        <p:nvSpPr>
          <p:cNvPr id="24" name="Rectangle 23"/>
          <p:cNvSpPr/>
          <p:nvPr/>
        </p:nvSpPr>
        <p:spPr>
          <a:xfrm>
            <a:off x="7467600" y="4153090"/>
            <a:ext cx="4114800" cy="7144"/>
          </a:xfrm>
          <a:prstGeom prst="rect">
            <a:avLst/>
          </a:prstGeom>
          <a:solidFill>
            <a:srgbClr val="F0EFF7"/>
          </a:solidFill>
          <a:ln>
            <a:noFill/>
          </a:ln>
          <a:effectLst/>
        </p:spPr>
        <p:txBody>
          <a:bodyPr rtlCol="0" anchor="ctr" wrap="square"/>
          <a:lstStyle/>
          <a:p>
            <a:pPr algn="ctr"/>
          </a:p>
        </p:txBody>
      </p:sp>
      <p:sp>
        <p:nvSpPr>
          <p:cNvPr id="25" name="TextBox 24"/>
          <p:cNvSpPr txBox="1"/>
          <p:nvPr/>
        </p:nvSpPr>
        <p:spPr>
          <a:xfrm>
            <a:off x="7467600" y="4353115"/>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NOTABLE</a:t>
            </a:r>
          </a:p>
        </p:txBody>
      </p:sp>
      <p:sp>
        <p:nvSpPr>
          <p:cNvPr id="26" name="TextBox 25"/>
          <p:cNvSpPr txBox="1"/>
          <p:nvPr/>
        </p:nvSpPr>
        <p:spPr>
          <a:xfrm>
            <a:off x="7467600" y="4562665"/>
            <a:ext cx="4114800" cy="2476500"/>
          </a:xfrm>
          <a:prstGeom prst="rect">
            <a:avLst/>
          </a:prstGeom>
          <a:noFill/>
        </p:spPr>
        <p:txBody>
          <a:bodyPr wrap="square" lIns="0" rIns="0" tIns="0" bIns="0" anchor="t">
            <a:spAutoFit/>
          </a:bodyPr>
          <a:lstStyle/>
          <a:p>
            <a:pPr marL="190500" indent="-190500">
              <a:lnSpc>
                <a:spcPct val="142000"/>
              </a:lnSpc>
              <a:spcAft>
                <a:spcPts val="600"/>
              </a:spcAft>
              <a:buClr>
                <a:srgbClr val="7C3AED"/>
              </a:buClr>
              <a:buFont typeface="Arial"/>
              <a:buChar char="›"/>
            </a:pPr>
            <a:r>
              <a:rPr sz="869" b="0">
                <a:solidFill>
                  <a:srgbClr val="3A3A5C"/>
                </a:solidFill>
                <a:latin typeface="Arial"/>
              </a:rPr>
              <a:t>Closed learning loop — approved annotations retrain the detector and redeploy it</a:t>
            </a:r>
          </a:p>
          <a:p>
            <a:pPr marL="190500" indent="-190500">
              <a:lnSpc>
                <a:spcPct val="142000"/>
              </a:lnSpc>
              <a:spcAft>
                <a:spcPts val="600"/>
              </a:spcAft>
              <a:buClr>
                <a:srgbClr val="7C3AED"/>
              </a:buClr>
              <a:buFont typeface="Arial"/>
              <a:buChar char="›"/>
            </a:pPr>
            <a:r>
              <a:rPr sz="869" b="0">
                <a:solidFill>
                  <a:srgbClr val="3A3A5C"/>
                </a:solidFill>
                <a:latin typeface="Arial"/>
              </a:rPr>
              <a:t>Separate visual and thermal models, because a hot joint and a cracked insulator are not the same detection problem</a:t>
            </a:r>
          </a:p>
          <a:p>
            <a:pPr marL="190500" indent="-190500">
              <a:lnSpc>
                <a:spcPct val="142000"/>
              </a:lnSpc>
              <a:spcAft>
                <a:spcPts val="600"/>
              </a:spcAft>
              <a:buClr>
                <a:srgbClr val="7C3AED"/>
              </a:buClr>
              <a:buFont typeface="Arial"/>
              <a:buChar char="›"/>
            </a:pPr>
            <a:r>
              <a:rPr sz="869" b="0">
                <a:solidFill>
                  <a:srgbClr val="3A3A5C"/>
                </a:solidFill>
                <a:latin typeface="Arial"/>
              </a:rPr>
              <a:t>Published documentation site built from the repository and deployed on every merge</a:t>
            </a:r>
          </a:p>
          <a:p>
            <a:pPr marL="190500" indent="-190500">
              <a:lnSpc>
                <a:spcPct val="142000"/>
              </a:lnSpc>
              <a:spcAft>
                <a:spcPts val="600"/>
              </a:spcAft>
              <a:buClr>
                <a:srgbClr val="7C3AED"/>
              </a:buClr>
              <a:buFont typeface="Arial"/>
              <a:buChar char="›"/>
            </a:pPr>
            <a:r>
              <a:rPr sz="869" b="0">
                <a:solidFill>
                  <a:srgbClr val="3A3A5C"/>
                </a:solidFill>
                <a:latin typeface="Arial"/>
              </a:rPr>
              <a:t>Simulation-first drone testing with PX4 SITL — no hardware required to validate a mission</a:t>
            </a:r>
          </a:p>
        </p:txBody>
      </p:sp>
      <p:sp>
        <p:nvSpPr>
          <p:cNvPr id="27" name="TextBox 2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8" name="TextBox 2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t-cortex.png"/>
          <p:cNvPicPr>
            <a:picLocks noChangeAspect="1"/>
          </p:cNvPicPr>
          <p:nvPr/>
        </p:nvPicPr>
        <p:blipFill>
          <a:blip r:embed="rId2"/>
          <a:stretch>
            <a:fillRect/>
          </a:stretch>
        </p:blipFill>
        <p:spPr>
          <a:xfrm>
            <a:off x="9963150" y="381000"/>
            <a:ext cx="1676400" cy="1676400"/>
          </a:xfrm>
          <a:prstGeom prst="rect">
            <a:avLst/>
          </a:prstGeom>
        </p:spPr>
      </p:pic>
      <p:sp>
        <p:nvSpPr>
          <p:cNvPr id="3" name="TextBox 2"/>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06</a:t>
            </a:r>
          </a:p>
        </p:txBody>
      </p:sp>
      <p:sp>
        <p:nvSpPr>
          <p:cNvPr id="4" name="TextBox 3"/>
          <p:cNvSpPr txBox="1"/>
          <p:nvPr/>
        </p:nvSpPr>
        <p:spPr>
          <a:xfrm>
            <a:off x="609600" y="6858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Cortex</a:t>
            </a:r>
          </a:p>
        </p:txBody>
      </p:sp>
      <p:sp>
        <p:nvSpPr>
          <p:cNvPr id="5" name="TextBox 4"/>
          <p:cNvSpPr txBox="1"/>
          <p:nvPr/>
        </p:nvSpPr>
        <p:spPr>
          <a:xfrm>
            <a:off x="609600" y="933450"/>
            <a:ext cx="8953500" cy="419100"/>
          </a:xfrm>
          <a:prstGeom prst="rect">
            <a:avLst/>
          </a:prstGeom>
          <a:noFill/>
        </p:spPr>
        <p:txBody>
          <a:bodyPr wrap="square" lIns="0" rIns="0" tIns="0" bIns="0" anchor="t">
            <a:spAutoFit/>
          </a:bodyPr>
          <a:lstStyle/>
          <a:p>
            <a:pPr>
              <a:lnSpc>
                <a:spcPct val="110000"/>
              </a:lnSpc>
            </a:pPr>
            <a:r>
              <a:rPr sz="2550" b="1">
                <a:solidFill>
                  <a:srgbClr val="0A0A1A"/>
                </a:solidFill>
                <a:latin typeface="Arial"/>
              </a:rPr>
              <a:t>AI track inspection from a cart and a Raspberry Pi</a:t>
            </a:r>
          </a:p>
        </p:txBody>
      </p:sp>
      <p:sp>
        <p:nvSpPr>
          <p:cNvPr id="6" name="TextBox 5"/>
          <p:cNvSpPr txBox="1"/>
          <p:nvPr/>
        </p:nvSpPr>
        <p:spPr>
          <a:xfrm>
            <a:off x="609600" y="1409700"/>
            <a:ext cx="10972800" cy="171450"/>
          </a:xfrm>
          <a:prstGeom prst="rect">
            <a:avLst/>
          </a:prstGeom>
          <a:noFill/>
        </p:spPr>
        <p:txBody>
          <a:bodyPr wrap="square" lIns="0" rIns="0" tIns="0" bIns="0" anchor="t">
            <a:spAutoFit/>
          </a:bodyPr>
          <a:lstStyle/>
          <a:p>
            <a:pPr>
              <a:lnSpc>
                <a:spcPct val="135000"/>
              </a:lnSpc>
            </a:pPr>
            <a:r>
              <a:rPr sz="600" b="1" spc="120">
                <a:solidFill>
                  <a:srgbClr val="8888A0"/>
                </a:solidFill>
                <a:latin typeface="Courier New"/>
              </a:rPr>
              <a:t>RAILWAY SAFETY · EDGE AI</a:t>
            </a:r>
          </a:p>
        </p:txBody>
      </p:sp>
      <p:sp>
        <p:nvSpPr>
          <p:cNvPr id="7" name="TextBox 6"/>
          <p:cNvSpPr txBox="1"/>
          <p:nvPr/>
        </p:nvSpPr>
        <p:spPr>
          <a:xfrm>
            <a:off x="609600" y="1771650"/>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CONTEXT</a:t>
            </a:r>
          </a:p>
        </p:txBody>
      </p:sp>
      <p:sp>
        <p:nvSpPr>
          <p:cNvPr id="8" name="TextBox 7"/>
          <p:cNvSpPr txBox="1"/>
          <p:nvPr/>
        </p:nvSpPr>
        <p:spPr>
          <a:xfrm>
            <a:off x="609600" y="1962150"/>
            <a:ext cx="3238500" cy="1143000"/>
          </a:xfrm>
          <a:prstGeom prst="rect">
            <a:avLst/>
          </a:prstGeom>
          <a:noFill/>
        </p:spPr>
        <p:txBody>
          <a:bodyPr wrap="square" lIns="0" rIns="0" tIns="0" bIns="0" anchor="t">
            <a:spAutoFit/>
          </a:bodyPr>
          <a:lstStyle/>
          <a:p>
            <a:pPr>
              <a:lnSpc>
                <a:spcPct val="155000"/>
              </a:lnSpc>
            </a:pPr>
            <a:r>
              <a:rPr sz="960" b="0">
                <a:solidFill>
                  <a:srgbClr val="64648A"/>
                </a:solidFill>
                <a:latin typeface="Arial"/>
              </a:rPr>
              <a:t>Railway track inspection system. A cart-mounted Raspberry Pi captures imagery during inspection runs, uploads it over 4G, and cloud AI identifies track defects in near real time.</a:t>
            </a:r>
          </a:p>
        </p:txBody>
      </p:sp>
      <p:sp>
        <p:nvSpPr>
          <p:cNvPr id="9" name="TextBox 8"/>
          <p:cNvSpPr txBox="1"/>
          <p:nvPr/>
        </p:nvSpPr>
        <p:spPr>
          <a:xfrm>
            <a:off x="609600" y="2990088"/>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PROBLEM</a:t>
            </a:r>
          </a:p>
        </p:txBody>
      </p:sp>
      <p:sp>
        <p:nvSpPr>
          <p:cNvPr id="10" name="TextBox 9"/>
          <p:cNvSpPr txBox="1"/>
          <p:nvPr/>
        </p:nvSpPr>
        <p:spPr>
          <a:xfrm>
            <a:off x="609600" y="3180588"/>
            <a:ext cx="3238500" cy="1524000"/>
          </a:xfrm>
          <a:prstGeom prst="rect">
            <a:avLst/>
          </a:prstGeom>
          <a:noFill/>
        </p:spPr>
        <p:txBody>
          <a:bodyPr wrap="square" lIns="0" rIns="0" tIns="0" bIns="0" anchor="t">
            <a:spAutoFit/>
          </a:bodyPr>
          <a:lstStyle/>
          <a:p>
            <a:pPr>
              <a:lnSpc>
                <a:spcPct val="155000"/>
              </a:lnSpc>
            </a:pPr>
            <a:r>
              <a:rPr sz="960" b="0">
                <a:solidFill>
                  <a:srgbClr val="64648A"/>
                </a:solidFill>
                <a:latin typeface="Arial"/>
              </a:rPr>
              <a:t>Track is still inspected largely on foot. Coverage is slow, defects are found late, and there is no consistent geolocated record of what was seen on which run — which makes trends across a corridor invisible.</a:t>
            </a:r>
          </a:p>
        </p:txBody>
      </p:sp>
      <p:sp>
        <p:nvSpPr>
          <p:cNvPr id="11" name="TextBox 10"/>
          <p:cNvSpPr txBox="1"/>
          <p:nvPr/>
        </p:nvSpPr>
        <p:spPr>
          <a:xfrm>
            <a:off x="4171950" y="1771650"/>
            <a:ext cx="6667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WE BUILT</a:t>
            </a:r>
          </a:p>
        </p:txBody>
      </p:sp>
      <p:sp>
        <p:nvSpPr>
          <p:cNvPr id="12" name="TextBox 11"/>
          <p:cNvSpPr txBox="1"/>
          <p:nvPr/>
        </p:nvSpPr>
        <p:spPr>
          <a:xfrm>
            <a:off x="4171950" y="1962150"/>
            <a:ext cx="7410450" cy="3238500"/>
          </a:xfrm>
          <a:prstGeom prst="rect">
            <a:avLst/>
          </a:prstGeom>
          <a:noFill/>
        </p:spPr>
        <p:txBody>
          <a:bodyPr wrap="square" lIns="0" rIns="0" tIns="0" bIns="0" anchor="t">
            <a:spAutoFit/>
          </a:bodyPr>
          <a:lstStyle/>
          <a:p>
            <a:pPr marL="190500" indent="-190500">
              <a:lnSpc>
                <a:spcPct val="142000"/>
              </a:lnSpc>
              <a:spcAft>
                <a:spcPts val="675"/>
              </a:spcAft>
              <a:buClr>
                <a:srgbClr val="7C3AED"/>
              </a:buClr>
              <a:buFont typeface="Arial"/>
              <a:buChar char="▪"/>
            </a:pPr>
            <a:r>
              <a:rPr sz="960" b="0">
                <a:solidFill>
                  <a:srgbClr val="3A3A5C"/>
                </a:solidFill>
                <a:latin typeface="Arial"/>
              </a:rPr>
              <a:t>An edge capture daemon on a Raspberry Pi 5 with an Arducam IMX296 camera, GPS and a 4G HAT — geotagged imagery captured on the move</a:t>
            </a:r>
          </a:p>
          <a:p>
            <a:pPr marL="190500" indent="-190500">
              <a:lnSpc>
                <a:spcPct val="142000"/>
              </a:lnSpc>
              <a:spcAft>
                <a:spcPts val="675"/>
              </a:spcAft>
              <a:buClr>
                <a:srgbClr val="7C3AED"/>
              </a:buClr>
              <a:buFont typeface="Arial"/>
              <a:buChar char="▪"/>
            </a:pPr>
            <a:r>
              <a:rPr sz="960" b="0">
                <a:solidFill>
                  <a:srgbClr val="3A3A5C"/>
                </a:solidFill>
                <a:latin typeface="Arial"/>
              </a:rPr>
              <a:t>Local buffering and resumable upload over LTE, so a run in a dead zone is never a lost run</a:t>
            </a:r>
          </a:p>
          <a:p>
            <a:pPr marL="190500" indent="-190500">
              <a:lnSpc>
                <a:spcPct val="142000"/>
              </a:lnSpc>
              <a:spcAft>
                <a:spcPts val="675"/>
              </a:spcAft>
              <a:buClr>
                <a:srgbClr val="7C3AED"/>
              </a:buClr>
              <a:buFont typeface="Arial"/>
              <a:buChar char="▪"/>
            </a:pPr>
            <a:r>
              <a:rPr sz="960" b="0">
                <a:solidFill>
                  <a:srgbClr val="3A3A5C"/>
                </a:solidFill>
                <a:latin typeface="Arial"/>
              </a:rPr>
              <a:t>Cloud detection pipeline — FastAPI and Celery workers running YOLO models for rail cracks, missing fasteners and gauge deviations</a:t>
            </a:r>
          </a:p>
          <a:p>
            <a:pPr marL="190500" indent="-190500">
              <a:lnSpc>
                <a:spcPct val="142000"/>
              </a:lnSpc>
              <a:spcAft>
                <a:spcPts val="675"/>
              </a:spcAft>
              <a:buClr>
                <a:srgbClr val="7C3AED"/>
              </a:buClr>
              <a:buFont typeface="Arial"/>
              <a:buChar char="▪"/>
            </a:pPr>
            <a:r>
              <a:rPr sz="960" b="0">
                <a:solidFill>
                  <a:srgbClr val="3A3A5C"/>
                </a:solidFill>
                <a:latin typeface="Arial"/>
              </a:rPr>
              <a:t>PostGIS-backed findings, so every defect carries its position on the track segment</a:t>
            </a:r>
          </a:p>
          <a:p>
            <a:pPr marL="190500" indent="-190500">
              <a:lnSpc>
                <a:spcPct val="142000"/>
              </a:lnSpc>
              <a:spcAft>
                <a:spcPts val="675"/>
              </a:spcAft>
              <a:buClr>
                <a:srgbClr val="7C3AED"/>
              </a:buClr>
              <a:buFont typeface="Arial"/>
              <a:buChar char="▪"/>
            </a:pPr>
            <a:r>
              <a:rPr sz="960" b="0">
                <a:solidFill>
                  <a:srgbClr val="3A3A5C"/>
                </a:solidFill>
                <a:latin typeface="Arial"/>
              </a:rPr>
              <a:t>A Next.js operator dashboard with a Leaflet map, run history and per-finding review</a:t>
            </a:r>
          </a:p>
          <a:p>
            <a:pPr marL="190500" indent="-190500">
              <a:lnSpc>
                <a:spcPct val="142000"/>
              </a:lnSpc>
              <a:spcAft>
                <a:spcPts val="675"/>
              </a:spcAft>
              <a:buClr>
                <a:srgbClr val="7C3AED"/>
              </a:buClr>
              <a:buFont typeface="Arial"/>
              <a:buChar char="▪"/>
            </a:pPr>
            <a:r>
              <a:rPr sz="960" b="0">
                <a:solidFill>
                  <a:srgbClr val="3A3A5C"/>
                </a:solidFill>
                <a:latin typeface="Arial"/>
              </a:rPr>
              <a:t>Bot registration and API-key provisioning, so a new cart is added to the fleet in minutes</a:t>
            </a:r>
          </a:p>
        </p:txBody>
      </p:sp>
      <p:sp>
        <p:nvSpPr>
          <p:cNvPr id="13" name="Rectangle 12"/>
          <p:cNvSpPr/>
          <p:nvPr/>
        </p:nvSpPr>
        <p:spPr>
          <a:xfrm>
            <a:off x="609600" y="5295900"/>
            <a:ext cx="10972800" cy="990600"/>
          </a:xfrm>
          <a:prstGeom prst="rect">
            <a:avLst/>
          </a:prstGeom>
          <a:solidFill>
            <a:srgbClr val="FBFAFE"/>
          </a:solidFill>
          <a:ln>
            <a:noFill/>
          </a:ln>
          <a:effectLst/>
        </p:spPr>
        <p:txBody>
          <a:bodyPr rtlCol="0" anchor="ctr" wrap="square"/>
          <a:lstStyle/>
          <a:p>
            <a:pPr algn="ctr"/>
          </a:p>
        </p:txBody>
      </p:sp>
      <p:sp>
        <p:nvSpPr>
          <p:cNvPr id="14" name="Rectangle 13"/>
          <p:cNvSpPr/>
          <p:nvPr/>
        </p:nvSpPr>
        <p:spPr>
          <a:xfrm>
            <a:off x="609600" y="5295900"/>
            <a:ext cx="28575" cy="990600"/>
          </a:xfrm>
          <a:prstGeom prst="rect">
            <a:avLst/>
          </a:prstGeom>
          <a:solidFill>
            <a:srgbClr val="7C3AED"/>
          </a:solidFill>
          <a:ln>
            <a:noFill/>
          </a:ln>
          <a:effectLst/>
        </p:spPr>
        <p:txBody>
          <a:bodyPr rtlCol="0" anchor="ctr" wrap="square"/>
          <a:lstStyle/>
          <a:p>
            <a:pPr algn="ctr"/>
          </a:p>
        </p:txBody>
      </p:sp>
      <p:sp>
        <p:nvSpPr>
          <p:cNvPr id="15" name="TextBox 14"/>
          <p:cNvSpPr txBox="1"/>
          <p:nvPr/>
        </p:nvSpPr>
        <p:spPr>
          <a:xfrm>
            <a:off x="800100" y="5448300"/>
            <a:ext cx="57150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WHY IT IS HARD</a:t>
            </a:r>
          </a:p>
        </p:txBody>
      </p:sp>
      <p:sp>
        <p:nvSpPr>
          <p:cNvPr id="16" name="TextBox 15"/>
          <p:cNvSpPr txBox="1"/>
          <p:nvPr/>
        </p:nvSpPr>
        <p:spPr>
          <a:xfrm>
            <a:off x="800100" y="5638800"/>
            <a:ext cx="10401300" cy="571500"/>
          </a:xfrm>
          <a:prstGeom prst="rect">
            <a:avLst/>
          </a:prstGeom>
          <a:noFill/>
        </p:spPr>
        <p:txBody>
          <a:bodyPr wrap="square" lIns="0" rIns="0" tIns="0" bIns="0" anchor="t">
            <a:spAutoFit/>
          </a:bodyPr>
          <a:lstStyle/>
          <a:p>
            <a:pPr>
              <a:lnSpc>
                <a:spcPct val="150000"/>
              </a:lnSpc>
            </a:pPr>
            <a:r>
              <a:rPr sz="960" b="0">
                <a:solidFill>
                  <a:srgbClr val="3A3A5C"/>
                </a:solidFill>
                <a:latin typeface="Arial"/>
              </a:rPr>
              <a:t>Field connectivity is unreliable by default. The uploader's offline-resilience behaviour is covered by a test suite that runs on any laptop — no Pi, no camera, no track — so the hardest failure mode is verified continuously, not on site.</a:t>
            </a:r>
          </a:p>
        </p:txBody>
      </p:sp>
      <p:sp>
        <p:nvSpPr>
          <p:cNvPr id="17" name="TextBox 1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8" name="TextBox 1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09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Cortex</a:t>
            </a:r>
          </a:p>
        </p:txBody>
      </p:sp>
      <p:sp>
        <p:nvSpPr>
          <p:cNvPr id="3" name="TextBox 2"/>
          <p:cNvSpPr txBox="1"/>
          <p:nvPr/>
        </p:nvSpPr>
        <p:spPr>
          <a:xfrm>
            <a:off x="609600" y="723900"/>
            <a:ext cx="8572500" cy="419100"/>
          </a:xfrm>
          <a:prstGeom prst="rect">
            <a:avLst/>
          </a:prstGeom>
          <a:noFill/>
        </p:spPr>
        <p:txBody>
          <a:bodyPr wrap="square" lIns="0" rIns="0" tIns="0" bIns="0" anchor="t">
            <a:spAutoFit/>
          </a:bodyPr>
          <a:lstStyle/>
          <a:p>
            <a:pPr>
              <a:lnSpc>
                <a:spcPct val="135000"/>
              </a:lnSpc>
            </a:pPr>
            <a:r>
              <a:rPr sz="2100" b="1">
                <a:solidFill>
                  <a:srgbClr val="0A0A1A"/>
                </a:solidFill>
                <a:latin typeface="Arial"/>
              </a:rPr>
              <a:t>Architecture &amp; stack</a:t>
            </a:r>
          </a:p>
        </p:txBody>
      </p:sp>
      <p:sp>
        <p:nvSpPr>
          <p:cNvPr id="4" name="Rounded Rectangle 3"/>
          <p:cNvSpPr/>
          <p:nvPr/>
        </p:nvSpPr>
        <p:spPr>
          <a:xfrm>
            <a:off x="609600" y="1276350"/>
            <a:ext cx="514350" cy="28575"/>
          </a:xfrm>
          <a:prstGeom prst="roundRect">
            <a:avLst>
              <a:gd name="adj" fmla="val 50000"/>
            </a:avLst>
          </a:prstGeom>
          <a:solidFill>
            <a:srgbClr val="7C3AED"/>
          </a:solidFill>
          <a:ln>
            <a:noFill/>
          </a:ln>
          <a:effectLst/>
        </p:spPr>
        <p:txBody>
          <a:bodyPr rtlCol="0" anchor="ctr" wrap="square"/>
          <a:lstStyle/>
          <a:p>
            <a:pPr algn="ctr"/>
          </a:p>
        </p:txBody>
      </p:sp>
      <p:pic>
        <p:nvPicPr>
          <p:cNvPr id="5" name="Picture 4" descr="diagram-cortex.png"/>
          <p:cNvPicPr>
            <a:picLocks noChangeAspect="1"/>
          </p:cNvPicPr>
          <p:nvPr/>
        </p:nvPicPr>
        <p:blipFill>
          <a:blip r:embed="rId2"/>
          <a:stretch>
            <a:fillRect/>
          </a:stretch>
        </p:blipFill>
        <p:spPr>
          <a:xfrm>
            <a:off x="609600" y="1428750"/>
            <a:ext cx="6572250" cy="4572000"/>
          </a:xfrm>
          <a:prstGeom prst="rect">
            <a:avLst/>
          </a:prstGeom>
        </p:spPr>
      </p:pic>
      <p:sp>
        <p:nvSpPr>
          <p:cNvPr id="6" name="TextBox 5"/>
          <p:cNvSpPr txBox="1"/>
          <p:nvPr/>
        </p:nvSpPr>
        <p:spPr>
          <a:xfrm>
            <a:off x="7467600" y="1390650"/>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STACK</a:t>
            </a:r>
          </a:p>
        </p:txBody>
      </p:sp>
      <p:sp>
        <p:nvSpPr>
          <p:cNvPr id="7" name="TextBox 6"/>
          <p:cNvSpPr txBox="1"/>
          <p:nvPr/>
        </p:nvSpPr>
        <p:spPr>
          <a:xfrm>
            <a:off x="7467600" y="1619250"/>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EDGE</a:t>
            </a:r>
          </a:p>
        </p:txBody>
      </p:sp>
      <p:sp>
        <p:nvSpPr>
          <p:cNvPr id="8" name="TextBox 7"/>
          <p:cNvSpPr txBox="1"/>
          <p:nvPr/>
        </p:nvSpPr>
        <p:spPr>
          <a:xfrm>
            <a:off x="8534400" y="1600200"/>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Raspberry Pi 5 · Python · picamera2 · pyserial · systemd daemon</a:t>
            </a:r>
          </a:p>
        </p:txBody>
      </p:sp>
      <p:sp>
        <p:nvSpPr>
          <p:cNvPr id="9" name="Rectangle 8"/>
          <p:cNvSpPr/>
          <p:nvPr/>
        </p:nvSpPr>
        <p:spPr>
          <a:xfrm>
            <a:off x="7467600" y="1996821"/>
            <a:ext cx="4114800" cy="7144"/>
          </a:xfrm>
          <a:prstGeom prst="rect">
            <a:avLst/>
          </a:prstGeom>
          <a:solidFill>
            <a:srgbClr val="F0EFF7"/>
          </a:solidFill>
          <a:ln>
            <a:noFill/>
          </a:ln>
          <a:effectLst/>
        </p:spPr>
        <p:txBody>
          <a:bodyPr rtlCol="0" anchor="ctr" wrap="square"/>
          <a:lstStyle/>
          <a:p>
            <a:pPr algn="ctr"/>
          </a:p>
        </p:txBody>
      </p:sp>
      <p:sp>
        <p:nvSpPr>
          <p:cNvPr id="10" name="TextBox 9"/>
          <p:cNvSpPr txBox="1"/>
          <p:nvPr/>
        </p:nvSpPr>
        <p:spPr>
          <a:xfrm>
            <a:off x="7467600" y="2082546"/>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HARDWARE</a:t>
            </a:r>
          </a:p>
        </p:txBody>
      </p:sp>
      <p:sp>
        <p:nvSpPr>
          <p:cNvPr id="11" name="TextBox 10"/>
          <p:cNvSpPr txBox="1"/>
          <p:nvPr/>
        </p:nvSpPr>
        <p:spPr>
          <a:xfrm>
            <a:off x="8534400" y="2063496"/>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Arducam IMX296 (CSI) · GPS · SIM7600G-H 4G HAT</a:t>
            </a:r>
          </a:p>
        </p:txBody>
      </p:sp>
      <p:sp>
        <p:nvSpPr>
          <p:cNvPr id="12" name="Rectangle 11"/>
          <p:cNvSpPr/>
          <p:nvPr/>
        </p:nvSpPr>
        <p:spPr>
          <a:xfrm>
            <a:off x="7467600" y="2299906"/>
            <a:ext cx="4114800" cy="7144"/>
          </a:xfrm>
          <a:prstGeom prst="rect">
            <a:avLst/>
          </a:prstGeom>
          <a:solidFill>
            <a:srgbClr val="F0EFF7"/>
          </a:solidFill>
          <a:ln>
            <a:noFill/>
          </a:ln>
          <a:effectLst/>
        </p:spPr>
        <p:txBody>
          <a:bodyPr rtlCol="0" anchor="ctr" wrap="square"/>
          <a:lstStyle/>
          <a:p>
            <a:pPr algn="ctr"/>
          </a:p>
        </p:txBody>
      </p:sp>
      <p:sp>
        <p:nvSpPr>
          <p:cNvPr id="13" name="TextBox 12"/>
          <p:cNvSpPr txBox="1"/>
          <p:nvPr/>
        </p:nvSpPr>
        <p:spPr>
          <a:xfrm>
            <a:off x="7467600" y="2385632"/>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BACKEND</a:t>
            </a:r>
          </a:p>
        </p:txBody>
      </p:sp>
      <p:sp>
        <p:nvSpPr>
          <p:cNvPr id="14" name="TextBox 13"/>
          <p:cNvSpPr txBox="1"/>
          <p:nvPr/>
        </p:nvSpPr>
        <p:spPr>
          <a:xfrm>
            <a:off x="8534400" y="2366582"/>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FastAPI · SQLAlchemy · Celery · YOLO detection workers</a:t>
            </a:r>
          </a:p>
        </p:txBody>
      </p:sp>
      <p:sp>
        <p:nvSpPr>
          <p:cNvPr id="15" name="Rectangle 14"/>
          <p:cNvSpPr/>
          <p:nvPr/>
        </p:nvSpPr>
        <p:spPr>
          <a:xfrm>
            <a:off x="7467600" y="2763202"/>
            <a:ext cx="4114800" cy="7144"/>
          </a:xfrm>
          <a:prstGeom prst="rect">
            <a:avLst/>
          </a:prstGeom>
          <a:solidFill>
            <a:srgbClr val="F0EFF7"/>
          </a:solidFill>
          <a:ln>
            <a:noFill/>
          </a:ln>
          <a:effectLst/>
        </p:spPr>
        <p:txBody>
          <a:bodyPr rtlCol="0" anchor="ctr" wrap="square"/>
          <a:lstStyle/>
          <a:p>
            <a:pPr algn="ctr"/>
          </a:p>
        </p:txBody>
      </p:sp>
      <p:sp>
        <p:nvSpPr>
          <p:cNvPr id="16" name="TextBox 15"/>
          <p:cNvSpPr txBox="1"/>
          <p:nvPr/>
        </p:nvSpPr>
        <p:spPr>
          <a:xfrm>
            <a:off x="7467600" y="2848927"/>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DATABASE</a:t>
            </a:r>
          </a:p>
        </p:txBody>
      </p:sp>
      <p:sp>
        <p:nvSpPr>
          <p:cNvPr id="17" name="TextBox 16"/>
          <p:cNvSpPr txBox="1"/>
          <p:nvPr/>
        </p:nvSpPr>
        <p:spPr>
          <a:xfrm>
            <a:off x="8534400" y="2829877"/>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PostgreSQL + PostGIS for geolocated findings</a:t>
            </a:r>
          </a:p>
        </p:txBody>
      </p:sp>
      <p:sp>
        <p:nvSpPr>
          <p:cNvPr id="18" name="Rectangle 17"/>
          <p:cNvSpPr/>
          <p:nvPr/>
        </p:nvSpPr>
        <p:spPr>
          <a:xfrm>
            <a:off x="7467600" y="3066288"/>
            <a:ext cx="4114800" cy="7144"/>
          </a:xfrm>
          <a:prstGeom prst="rect">
            <a:avLst/>
          </a:prstGeom>
          <a:solidFill>
            <a:srgbClr val="F0EFF7"/>
          </a:solidFill>
          <a:ln>
            <a:noFill/>
          </a:ln>
          <a:effectLst/>
        </p:spPr>
        <p:txBody>
          <a:bodyPr rtlCol="0" anchor="ctr" wrap="square"/>
          <a:lstStyle/>
          <a:p>
            <a:pPr algn="ctr"/>
          </a:p>
        </p:txBody>
      </p:sp>
      <p:sp>
        <p:nvSpPr>
          <p:cNvPr id="19" name="TextBox 18"/>
          <p:cNvSpPr txBox="1"/>
          <p:nvPr/>
        </p:nvSpPr>
        <p:spPr>
          <a:xfrm>
            <a:off x="7467600" y="3152013"/>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STORAGE</a:t>
            </a:r>
          </a:p>
        </p:txBody>
      </p:sp>
      <p:sp>
        <p:nvSpPr>
          <p:cNvPr id="20" name="TextBox 19"/>
          <p:cNvSpPr txBox="1"/>
          <p:nvPr/>
        </p:nvSpPr>
        <p:spPr>
          <a:xfrm>
            <a:off x="8534400" y="3132963"/>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MinIO (S3-compatible) for captured imagery</a:t>
            </a:r>
          </a:p>
        </p:txBody>
      </p:sp>
      <p:sp>
        <p:nvSpPr>
          <p:cNvPr id="21" name="Rectangle 20"/>
          <p:cNvSpPr/>
          <p:nvPr/>
        </p:nvSpPr>
        <p:spPr>
          <a:xfrm>
            <a:off x="7467600" y="3369373"/>
            <a:ext cx="4114800" cy="7144"/>
          </a:xfrm>
          <a:prstGeom prst="rect">
            <a:avLst/>
          </a:prstGeom>
          <a:solidFill>
            <a:srgbClr val="F0EFF7"/>
          </a:solidFill>
          <a:ln>
            <a:noFill/>
          </a:ln>
          <a:effectLst/>
        </p:spPr>
        <p:txBody>
          <a:bodyPr rtlCol="0" anchor="ctr" wrap="square"/>
          <a:lstStyle/>
          <a:p>
            <a:pPr algn="ctr"/>
          </a:p>
        </p:txBody>
      </p:sp>
      <p:sp>
        <p:nvSpPr>
          <p:cNvPr id="22" name="TextBox 21"/>
          <p:cNvSpPr txBox="1"/>
          <p:nvPr/>
        </p:nvSpPr>
        <p:spPr>
          <a:xfrm>
            <a:off x="7467600" y="3455098"/>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FRONTEND &amp; OPS</a:t>
            </a:r>
          </a:p>
        </p:txBody>
      </p:sp>
      <p:sp>
        <p:nvSpPr>
          <p:cNvPr id="23" name="TextBox 22"/>
          <p:cNvSpPr txBox="1"/>
          <p:nvPr/>
        </p:nvSpPr>
        <p:spPr>
          <a:xfrm>
            <a:off x="8534400" y="3436048"/>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Next.js 15 · TypeScript · Tailwind · Leaflet · Docker Compose · Nginx</a:t>
            </a:r>
          </a:p>
        </p:txBody>
      </p:sp>
      <p:sp>
        <p:nvSpPr>
          <p:cNvPr id="24" name="Rectangle 23"/>
          <p:cNvSpPr/>
          <p:nvPr/>
        </p:nvSpPr>
        <p:spPr>
          <a:xfrm>
            <a:off x="7467600" y="3832669"/>
            <a:ext cx="4114800" cy="7144"/>
          </a:xfrm>
          <a:prstGeom prst="rect">
            <a:avLst/>
          </a:prstGeom>
          <a:solidFill>
            <a:srgbClr val="F0EFF7"/>
          </a:solidFill>
          <a:ln>
            <a:noFill/>
          </a:ln>
          <a:effectLst/>
        </p:spPr>
        <p:txBody>
          <a:bodyPr rtlCol="0" anchor="ctr" wrap="square"/>
          <a:lstStyle/>
          <a:p>
            <a:pPr algn="ctr"/>
          </a:p>
        </p:txBody>
      </p:sp>
      <p:sp>
        <p:nvSpPr>
          <p:cNvPr id="25" name="TextBox 24"/>
          <p:cNvSpPr txBox="1"/>
          <p:nvPr/>
        </p:nvSpPr>
        <p:spPr>
          <a:xfrm>
            <a:off x="7467600" y="4032694"/>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NOTABLE</a:t>
            </a:r>
          </a:p>
        </p:txBody>
      </p:sp>
      <p:sp>
        <p:nvSpPr>
          <p:cNvPr id="26" name="TextBox 25"/>
          <p:cNvSpPr txBox="1"/>
          <p:nvPr/>
        </p:nvSpPr>
        <p:spPr>
          <a:xfrm>
            <a:off x="7467600" y="4242244"/>
            <a:ext cx="4114800" cy="2476500"/>
          </a:xfrm>
          <a:prstGeom prst="rect">
            <a:avLst/>
          </a:prstGeom>
          <a:noFill/>
        </p:spPr>
        <p:txBody>
          <a:bodyPr wrap="square" lIns="0" rIns="0" tIns="0" bIns="0" anchor="t">
            <a:spAutoFit/>
          </a:bodyPr>
          <a:lstStyle/>
          <a:p>
            <a:pPr marL="190500" indent="-190500">
              <a:lnSpc>
                <a:spcPct val="142000"/>
              </a:lnSpc>
              <a:spcAft>
                <a:spcPts val="600"/>
              </a:spcAft>
              <a:buClr>
                <a:srgbClr val="7C3AED"/>
              </a:buClr>
              <a:buFont typeface="Arial"/>
              <a:buChar char="›"/>
            </a:pPr>
            <a:r>
              <a:rPr sz="869" b="0">
                <a:solidFill>
                  <a:srgbClr val="3A3A5C"/>
                </a:solidFill>
                <a:latin typeface="Arial"/>
              </a:rPr>
              <a:t>Runs on commodity hardware — a Pi, a camera and a 4G modem, not a specialised inspection vehicle</a:t>
            </a:r>
          </a:p>
          <a:p>
            <a:pPr marL="190500" indent="-190500">
              <a:lnSpc>
                <a:spcPct val="142000"/>
              </a:lnSpc>
              <a:spcAft>
                <a:spcPts val="600"/>
              </a:spcAft>
              <a:buClr>
                <a:srgbClr val="7C3AED"/>
              </a:buClr>
              <a:buFont typeface="Arial"/>
              <a:buChar char="›"/>
            </a:pPr>
            <a:r>
              <a:rPr sz="869" b="0">
                <a:solidFill>
                  <a:srgbClr val="3A3A5C"/>
                </a:solidFill>
                <a:latin typeface="Arial"/>
              </a:rPr>
              <a:t>Offline-first by design: buffer on the cart, reconcile in the cloud</a:t>
            </a:r>
          </a:p>
          <a:p>
            <a:pPr marL="190500" indent="-190500">
              <a:lnSpc>
                <a:spcPct val="142000"/>
              </a:lnSpc>
              <a:spcAft>
                <a:spcPts val="600"/>
              </a:spcAft>
              <a:buClr>
                <a:srgbClr val="7C3AED"/>
              </a:buClr>
              <a:buFont typeface="Arial"/>
              <a:buChar char="›"/>
            </a:pPr>
            <a:r>
              <a:rPr sz="869" b="0">
                <a:solidFill>
                  <a:srgbClr val="3A3A5C"/>
                </a:solidFill>
                <a:latin typeface="Arial"/>
              </a:rPr>
              <a:t>Single-command local environment (docker-compose up) with an auto-seeded admin user</a:t>
            </a:r>
          </a:p>
          <a:p>
            <a:pPr marL="190500" indent="-190500">
              <a:lnSpc>
                <a:spcPct val="142000"/>
              </a:lnSpc>
              <a:spcAft>
                <a:spcPts val="600"/>
              </a:spcAft>
              <a:buClr>
                <a:srgbClr val="7C3AED"/>
              </a:buClr>
              <a:buFont typeface="Arial"/>
              <a:buChar char="›"/>
            </a:pPr>
            <a:r>
              <a:rPr sz="869" b="0">
                <a:solidFill>
                  <a:srgbClr val="3A3A5C"/>
                </a:solidFill>
                <a:latin typeface="Arial"/>
              </a:rPr>
              <a:t>Provisioning is scripted end to end, from flashing the Pi to starting the capture service</a:t>
            </a:r>
          </a:p>
        </p:txBody>
      </p:sp>
      <p:sp>
        <p:nvSpPr>
          <p:cNvPr id="27" name="TextBox 2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8" name="TextBox 2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t-rdactd.png"/>
          <p:cNvPicPr>
            <a:picLocks noChangeAspect="1"/>
          </p:cNvPicPr>
          <p:nvPr/>
        </p:nvPicPr>
        <p:blipFill>
          <a:blip r:embed="rId2"/>
          <a:stretch>
            <a:fillRect/>
          </a:stretch>
        </p:blipFill>
        <p:spPr>
          <a:xfrm>
            <a:off x="9963150" y="381000"/>
            <a:ext cx="1676400" cy="1676400"/>
          </a:xfrm>
          <a:prstGeom prst="rect">
            <a:avLst/>
          </a:prstGeom>
        </p:spPr>
      </p:pic>
      <p:sp>
        <p:nvSpPr>
          <p:cNvPr id="3" name="TextBox 2"/>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07</a:t>
            </a:r>
          </a:p>
        </p:txBody>
      </p:sp>
      <p:sp>
        <p:nvSpPr>
          <p:cNvPr id="4" name="TextBox 3"/>
          <p:cNvSpPr txBox="1"/>
          <p:nvPr/>
        </p:nvSpPr>
        <p:spPr>
          <a:xfrm>
            <a:off x="609600" y="6858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RDACTD</a:t>
            </a:r>
          </a:p>
        </p:txBody>
      </p:sp>
      <p:sp>
        <p:nvSpPr>
          <p:cNvPr id="5" name="TextBox 4"/>
          <p:cNvSpPr txBox="1"/>
          <p:nvPr/>
        </p:nvSpPr>
        <p:spPr>
          <a:xfrm>
            <a:off x="609600" y="933450"/>
            <a:ext cx="8953500" cy="419100"/>
          </a:xfrm>
          <a:prstGeom prst="rect">
            <a:avLst/>
          </a:prstGeom>
          <a:noFill/>
        </p:spPr>
        <p:txBody>
          <a:bodyPr wrap="square" lIns="0" rIns="0" tIns="0" bIns="0" anchor="t">
            <a:spAutoFit/>
          </a:bodyPr>
          <a:lstStyle/>
          <a:p>
            <a:pPr>
              <a:lnSpc>
                <a:spcPct val="110000"/>
              </a:lnSpc>
            </a:pPr>
            <a:r>
              <a:rPr sz="2550" b="1">
                <a:solidFill>
                  <a:srgbClr val="0A0A1A"/>
                </a:solidFill>
                <a:latin typeface="Arial"/>
              </a:rPr>
              <a:t>Complaints that can be trusted, tracked and measured</a:t>
            </a:r>
          </a:p>
        </p:txBody>
      </p:sp>
      <p:sp>
        <p:nvSpPr>
          <p:cNvPr id="6" name="TextBox 5"/>
          <p:cNvSpPr txBox="1"/>
          <p:nvPr/>
        </p:nvSpPr>
        <p:spPr>
          <a:xfrm>
            <a:off x="609600" y="1409700"/>
            <a:ext cx="10972800" cy="171450"/>
          </a:xfrm>
          <a:prstGeom prst="rect">
            <a:avLst/>
          </a:prstGeom>
          <a:noFill/>
        </p:spPr>
        <p:txBody>
          <a:bodyPr wrap="square" lIns="0" rIns="0" tIns="0" bIns="0" anchor="t">
            <a:spAutoFit/>
          </a:bodyPr>
          <a:lstStyle/>
          <a:p>
            <a:pPr>
              <a:lnSpc>
                <a:spcPct val="135000"/>
              </a:lnSpc>
            </a:pPr>
            <a:r>
              <a:rPr sz="600" b="1" spc="120">
                <a:solidFill>
                  <a:srgbClr val="8888A0"/>
                </a:solidFill>
                <a:latin typeface="Courier New"/>
              </a:rPr>
              <a:t>ENTERPRISE INTEGRITY · MULTI-TENANT SAAS</a:t>
            </a:r>
          </a:p>
        </p:txBody>
      </p:sp>
      <p:sp>
        <p:nvSpPr>
          <p:cNvPr id="7" name="TextBox 6"/>
          <p:cNvSpPr txBox="1"/>
          <p:nvPr/>
        </p:nvSpPr>
        <p:spPr>
          <a:xfrm>
            <a:off x="609600" y="1771650"/>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CONTEXT</a:t>
            </a:r>
          </a:p>
        </p:txBody>
      </p:sp>
      <p:sp>
        <p:nvSpPr>
          <p:cNvPr id="8" name="TextBox 7"/>
          <p:cNvSpPr txBox="1"/>
          <p:nvPr/>
        </p:nvSpPr>
        <p:spPr>
          <a:xfrm>
            <a:off x="609600" y="1962150"/>
            <a:ext cx="3238500" cy="1143000"/>
          </a:xfrm>
          <a:prstGeom prst="rect">
            <a:avLst/>
          </a:prstGeom>
          <a:noFill/>
        </p:spPr>
        <p:txBody>
          <a:bodyPr wrap="square" lIns="0" rIns="0" tIns="0" bIns="0" anchor="t">
            <a:spAutoFit/>
          </a:bodyPr>
          <a:lstStyle/>
          <a:p>
            <a:pPr>
              <a:lnSpc>
                <a:spcPct val="155000"/>
              </a:lnSpc>
            </a:pPr>
            <a:r>
              <a:rPr sz="960" b="0">
                <a:solidFill>
                  <a:srgbClr val="64648A"/>
                </a:solidFill>
                <a:latin typeface="Arial"/>
              </a:rPr>
              <a:t>Complaint management and business analytics platform — encrypted reporting, structured resolution, and integrity analytics for multi-branch organisations.</a:t>
            </a:r>
          </a:p>
        </p:txBody>
      </p:sp>
      <p:sp>
        <p:nvSpPr>
          <p:cNvPr id="9" name="TextBox 8"/>
          <p:cNvSpPr txBox="1"/>
          <p:nvPr/>
        </p:nvSpPr>
        <p:spPr>
          <a:xfrm>
            <a:off x="609600" y="2990088"/>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PROBLEM</a:t>
            </a:r>
          </a:p>
        </p:txBody>
      </p:sp>
      <p:sp>
        <p:nvSpPr>
          <p:cNvPr id="10" name="TextBox 9"/>
          <p:cNvSpPr txBox="1"/>
          <p:nvPr/>
        </p:nvSpPr>
        <p:spPr>
          <a:xfrm>
            <a:off x="609600" y="3180588"/>
            <a:ext cx="3238500" cy="1524000"/>
          </a:xfrm>
          <a:prstGeom prst="rect">
            <a:avLst/>
          </a:prstGeom>
          <a:noFill/>
        </p:spPr>
        <p:txBody>
          <a:bodyPr wrap="square" lIns="0" rIns="0" tIns="0" bIns="0" anchor="t">
            <a:spAutoFit/>
          </a:bodyPr>
          <a:lstStyle/>
          <a:p>
            <a:pPr>
              <a:lnSpc>
                <a:spcPct val="155000"/>
              </a:lnSpc>
            </a:pPr>
            <a:r>
              <a:rPr sz="960" b="0">
                <a:solidFill>
                  <a:srgbClr val="64648A"/>
                </a:solidFill>
                <a:latin typeface="Arial"/>
              </a:rPr>
              <a:t>Serious complaints still travel by email. Reporters have no privacy and no visibility, organisations have no structured record, and neither side can show afterwards that anything was actually resolved.</a:t>
            </a:r>
          </a:p>
        </p:txBody>
      </p:sp>
      <p:sp>
        <p:nvSpPr>
          <p:cNvPr id="11" name="TextBox 10"/>
          <p:cNvSpPr txBox="1"/>
          <p:nvPr/>
        </p:nvSpPr>
        <p:spPr>
          <a:xfrm>
            <a:off x="4171950" y="1771650"/>
            <a:ext cx="6667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WE BUILT</a:t>
            </a:r>
          </a:p>
        </p:txBody>
      </p:sp>
      <p:sp>
        <p:nvSpPr>
          <p:cNvPr id="12" name="TextBox 11"/>
          <p:cNvSpPr txBox="1"/>
          <p:nvPr/>
        </p:nvSpPr>
        <p:spPr>
          <a:xfrm>
            <a:off x="4171950" y="1962150"/>
            <a:ext cx="7410450" cy="3238500"/>
          </a:xfrm>
          <a:prstGeom prst="rect">
            <a:avLst/>
          </a:prstGeom>
          <a:noFill/>
        </p:spPr>
        <p:txBody>
          <a:bodyPr wrap="square" lIns="0" rIns="0" tIns="0" bIns="0" anchor="t">
            <a:spAutoFit/>
          </a:bodyPr>
          <a:lstStyle/>
          <a:p>
            <a:pPr marL="190500" indent="-190500">
              <a:lnSpc>
                <a:spcPct val="142000"/>
              </a:lnSpc>
              <a:spcAft>
                <a:spcPts val="675"/>
              </a:spcAft>
              <a:buClr>
                <a:srgbClr val="7C3AED"/>
              </a:buClr>
              <a:buFont typeface="Arial"/>
              <a:buChar char="▪"/>
            </a:pPr>
            <a:r>
              <a:rPr sz="960" b="0">
                <a:solidFill>
                  <a:srgbClr val="3A3A5C"/>
                </a:solidFill>
                <a:latin typeface="Arial"/>
              </a:rPr>
              <a:t>Encrypted, evidence-backed submission flows with categorical routing and real-time status tracking</a:t>
            </a:r>
          </a:p>
          <a:p>
            <a:pPr marL="190500" indent="-190500">
              <a:lnSpc>
                <a:spcPct val="142000"/>
              </a:lnSpc>
              <a:spcAft>
                <a:spcPts val="675"/>
              </a:spcAft>
              <a:buClr>
                <a:srgbClr val="7C3AED"/>
              </a:buClr>
              <a:buFont typeface="Arial"/>
              <a:buChar char="▪"/>
            </a:pPr>
            <a:r>
              <a:rPr sz="960" b="0">
                <a:solidFill>
                  <a:srgbClr val="3A3A5C"/>
                </a:solidFill>
                <a:latin typeface="Arial"/>
              </a:rPr>
              <a:t>End-to-end resolution channels that let a reporter and an organisation lead work a case to closure</a:t>
            </a:r>
          </a:p>
          <a:p>
            <a:pPr marL="190500" indent="-190500">
              <a:lnSpc>
                <a:spcPct val="142000"/>
              </a:lnSpc>
              <a:spcAft>
                <a:spcPts val="675"/>
              </a:spcAft>
              <a:buClr>
                <a:srgbClr val="7C3AED"/>
              </a:buClr>
              <a:buFont typeface="Arial"/>
              <a:buChar char="▪"/>
            </a:pPr>
            <a:r>
              <a:rPr sz="960" b="0">
                <a:solidFill>
                  <a:srgbClr val="3A3A5C"/>
                </a:solidFill>
                <a:latin typeface="Arial"/>
              </a:rPr>
              <a:t>Organizational health dashboards for multi-branch entities, with predictive risk modelling and integrity benchmarking</a:t>
            </a:r>
          </a:p>
          <a:p>
            <a:pPr marL="190500" indent="-190500">
              <a:lnSpc>
                <a:spcPct val="142000"/>
              </a:lnSpc>
              <a:spcAft>
                <a:spcPts val="675"/>
              </a:spcAft>
              <a:buClr>
                <a:srgbClr val="7C3AED"/>
              </a:buClr>
              <a:buFont typeface="Arial"/>
              <a:buChar char="▪"/>
            </a:pPr>
            <a:r>
              <a:rPr sz="960" b="0">
                <a:solidFill>
                  <a:srgbClr val="3A3A5C"/>
                </a:solidFill>
                <a:latin typeface="Arial"/>
              </a:rPr>
              <a:t>AI-assisted pattern identification across cases, plus automated structural-health forecasting</a:t>
            </a:r>
          </a:p>
          <a:p>
            <a:pPr marL="190500" indent="-190500">
              <a:lnSpc>
                <a:spcPct val="142000"/>
              </a:lnSpc>
              <a:spcAft>
                <a:spcPts val="675"/>
              </a:spcAft>
              <a:buClr>
                <a:srgbClr val="7C3AED"/>
              </a:buClr>
              <a:buFont typeface="Arial"/>
              <a:buChar char="▪"/>
            </a:pPr>
            <a:r>
              <a:rPr sz="960" b="0">
                <a:solidFill>
                  <a:srgbClr val="3A3A5C"/>
                </a:solidFill>
                <a:latin typeface="Arial"/>
              </a:rPr>
              <a:t>Public verified profiles showing integrity scores, historical performance and resolution velocity</a:t>
            </a:r>
          </a:p>
          <a:p>
            <a:pPr marL="190500" indent="-190500">
              <a:lnSpc>
                <a:spcPct val="142000"/>
              </a:lnSpc>
              <a:spcAft>
                <a:spcPts val="675"/>
              </a:spcAft>
              <a:buClr>
                <a:srgbClr val="7C3AED"/>
              </a:buClr>
              <a:buFont typeface="Arial"/>
              <a:buChar char="▪"/>
            </a:pPr>
            <a:r>
              <a:rPr sz="960" b="0">
                <a:solidFill>
                  <a:srgbClr val="3A3A5C"/>
                </a:solidFill>
                <a:latin typeface="Arial"/>
              </a:rPr>
              <a:t>Multi-tier SaaS framework with billing, team governance and role-based administration</a:t>
            </a:r>
          </a:p>
        </p:txBody>
      </p:sp>
      <p:sp>
        <p:nvSpPr>
          <p:cNvPr id="13" name="Rectangle 12"/>
          <p:cNvSpPr/>
          <p:nvPr/>
        </p:nvSpPr>
        <p:spPr>
          <a:xfrm>
            <a:off x="609600" y="5295900"/>
            <a:ext cx="10972800" cy="990600"/>
          </a:xfrm>
          <a:prstGeom prst="rect">
            <a:avLst/>
          </a:prstGeom>
          <a:solidFill>
            <a:srgbClr val="FBFAFE"/>
          </a:solidFill>
          <a:ln>
            <a:noFill/>
          </a:ln>
          <a:effectLst/>
        </p:spPr>
        <p:txBody>
          <a:bodyPr rtlCol="0" anchor="ctr" wrap="square"/>
          <a:lstStyle/>
          <a:p>
            <a:pPr algn="ctr"/>
          </a:p>
        </p:txBody>
      </p:sp>
      <p:sp>
        <p:nvSpPr>
          <p:cNvPr id="14" name="Rectangle 13"/>
          <p:cNvSpPr/>
          <p:nvPr/>
        </p:nvSpPr>
        <p:spPr>
          <a:xfrm>
            <a:off x="609600" y="5295900"/>
            <a:ext cx="28575" cy="990600"/>
          </a:xfrm>
          <a:prstGeom prst="rect">
            <a:avLst/>
          </a:prstGeom>
          <a:solidFill>
            <a:srgbClr val="7C3AED"/>
          </a:solidFill>
          <a:ln>
            <a:noFill/>
          </a:ln>
          <a:effectLst/>
        </p:spPr>
        <p:txBody>
          <a:bodyPr rtlCol="0" anchor="ctr" wrap="square"/>
          <a:lstStyle/>
          <a:p>
            <a:pPr algn="ctr"/>
          </a:p>
        </p:txBody>
      </p:sp>
      <p:sp>
        <p:nvSpPr>
          <p:cNvPr id="15" name="TextBox 14"/>
          <p:cNvSpPr txBox="1"/>
          <p:nvPr/>
        </p:nvSpPr>
        <p:spPr>
          <a:xfrm>
            <a:off x="800100" y="5448300"/>
            <a:ext cx="57150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WHY IT IS HARD</a:t>
            </a:r>
          </a:p>
        </p:txBody>
      </p:sp>
      <p:sp>
        <p:nvSpPr>
          <p:cNvPr id="16" name="TextBox 15"/>
          <p:cNvSpPr txBox="1"/>
          <p:nvPr/>
        </p:nvSpPr>
        <p:spPr>
          <a:xfrm>
            <a:off x="800100" y="5638800"/>
            <a:ext cx="10401300" cy="571500"/>
          </a:xfrm>
          <a:prstGeom prst="rect">
            <a:avLst/>
          </a:prstGeom>
          <a:noFill/>
        </p:spPr>
        <p:txBody>
          <a:bodyPr wrap="square" lIns="0" rIns="0" tIns="0" bIns="0" anchor="t">
            <a:spAutoFit/>
          </a:bodyPr>
          <a:lstStyle/>
          <a:p>
            <a:pPr>
              <a:lnSpc>
                <a:spcPct val="150000"/>
              </a:lnSpc>
            </a:pPr>
            <a:r>
              <a:rPr sz="960" b="0">
                <a:solidFill>
                  <a:srgbClr val="3A3A5C"/>
                </a:solidFill>
                <a:latin typeface="Arial"/>
              </a:rPr>
              <a:t>Web and native mobile share one TypeScript core — models, service layer, tRPC client, WebSocket client, Drizzle schema and design tokens all live in shared packages. The two clients cannot drift apart, because there is only one implementation of the rules.</a:t>
            </a:r>
          </a:p>
        </p:txBody>
      </p:sp>
      <p:sp>
        <p:nvSpPr>
          <p:cNvPr id="17" name="TextBox 1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8" name="TextBox 1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RDACTD</a:t>
            </a:r>
          </a:p>
        </p:txBody>
      </p:sp>
      <p:sp>
        <p:nvSpPr>
          <p:cNvPr id="3" name="TextBox 2"/>
          <p:cNvSpPr txBox="1"/>
          <p:nvPr/>
        </p:nvSpPr>
        <p:spPr>
          <a:xfrm>
            <a:off x="609600" y="723900"/>
            <a:ext cx="8572500" cy="419100"/>
          </a:xfrm>
          <a:prstGeom prst="rect">
            <a:avLst/>
          </a:prstGeom>
          <a:noFill/>
        </p:spPr>
        <p:txBody>
          <a:bodyPr wrap="square" lIns="0" rIns="0" tIns="0" bIns="0" anchor="t">
            <a:spAutoFit/>
          </a:bodyPr>
          <a:lstStyle/>
          <a:p>
            <a:pPr>
              <a:lnSpc>
                <a:spcPct val="135000"/>
              </a:lnSpc>
            </a:pPr>
            <a:r>
              <a:rPr sz="2100" b="1">
                <a:solidFill>
                  <a:srgbClr val="0A0A1A"/>
                </a:solidFill>
                <a:latin typeface="Arial"/>
              </a:rPr>
              <a:t>Architecture &amp; stack</a:t>
            </a:r>
          </a:p>
        </p:txBody>
      </p:sp>
      <p:sp>
        <p:nvSpPr>
          <p:cNvPr id="4" name="Rounded Rectangle 3"/>
          <p:cNvSpPr/>
          <p:nvPr/>
        </p:nvSpPr>
        <p:spPr>
          <a:xfrm>
            <a:off x="609600" y="1276350"/>
            <a:ext cx="514350" cy="28575"/>
          </a:xfrm>
          <a:prstGeom prst="roundRect">
            <a:avLst>
              <a:gd name="adj" fmla="val 50000"/>
            </a:avLst>
          </a:prstGeom>
          <a:solidFill>
            <a:srgbClr val="7C3AED"/>
          </a:solidFill>
          <a:ln>
            <a:noFill/>
          </a:ln>
          <a:effectLst/>
        </p:spPr>
        <p:txBody>
          <a:bodyPr rtlCol="0" anchor="ctr" wrap="square"/>
          <a:lstStyle/>
          <a:p>
            <a:pPr algn="ctr"/>
          </a:p>
        </p:txBody>
      </p:sp>
      <p:pic>
        <p:nvPicPr>
          <p:cNvPr id="5" name="Picture 4" descr="diagram-rdactd.png"/>
          <p:cNvPicPr>
            <a:picLocks noChangeAspect="1"/>
          </p:cNvPicPr>
          <p:nvPr/>
        </p:nvPicPr>
        <p:blipFill>
          <a:blip r:embed="rId2"/>
          <a:stretch>
            <a:fillRect/>
          </a:stretch>
        </p:blipFill>
        <p:spPr>
          <a:xfrm>
            <a:off x="609600" y="1428750"/>
            <a:ext cx="6572250" cy="4572000"/>
          </a:xfrm>
          <a:prstGeom prst="rect">
            <a:avLst/>
          </a:prstGeom>
        </p:spPr>
      </p:pic>
      <p:sp>
        <p:nvSpPr>
          <p:cNvPr id="6" name="TextBox 5"/>
          <p:cNvSpPr txBox="1"/>
          <p:nvPr/>
        </p:nvSpPr>
        <p:spPr>
          <a:xfrm>
            <a:off x="7467600" y="1390650"/>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STACK</a:t>
            </a:r>
          </a:p>
        </p:txBody>
      </p:sp>
      <p:sp>
        <p:nvSpPr>
          <p:cNvPr id="7" name="TextBox 6"/>
          <p:cNvSpPr txBox="1"/>
          <p:nvPr/>
        </p:nvSpPr>
        <p:spPr>
          <a:xfrm>
            <a:off x="7467600" y="1619250"/>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WEB</a:t>
            </a:r>
          </a:p>
        </p:txBody>
      </p:sp>
      <p:sp>
        <p:nvSpPr>
          <p:cNvPr id="8" name="TextBox 7"/>
          <p:cNvSpPr txBox="1"/>
          <p:nvPr/>
        </p:nvSpPr>
        <p:spPr>
          <a:xfrm>
            <a:off x="8534400" y="1600200"/>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Next.js 15 · Tailwind CSS 4 · SEO-ready App Router</a:t>
            </a:r>
          </a:p>
        </p:txBody>
      </p:sp>
      <p:sp>
        <p:nvSpPr>
          <p:cNvPr id="9" name="Rectangle 8"/>
          <p:cNvSpPr/>
          <p:nvPr/>
        </p:nvSpPr>
        <p:spPr>
          <a:xfrm>
            <a:off x="7467600" y="1836610"/>
            <a:ext cx="4114800" cy="7144"/>
          </a:xfrm>
          <a:prstGeom prst="rect">
            <a:avLst/>
          </a:prstGeom>
          <a:solidFill>
            <a:srgbClr val="F0EFF7"/>
          </a:solidFill>
          <a:ln>
            <a:noFill/>
          </a:ln>
          <a:effectLst/>
        </p:spPr>
        <p:txBody>
          <a:bodyPr rtlCol="0" anchor="ctr" wrap="square"/>
          <a:lstStyle/>
          <a:p>
            <a:pPr algn="ctr"/>
          </a:p>
        </p:txBody>
      </p:sp>
      <p:sp>
        <p:nvSpPr>
          <p:cNvPr id="10" name="TextBox 9"/>
          <p:cNvSpPr txBox="1"/>
          <p:nvPr/>
        </p:nvSpPr>
        <p:spPr>
          <a:xfrm>
            <a:off x="7467600" y="1922336"/>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MOBILE</a:t>
            </a:r>
          </a:p>
        </p:txBody>
      </p:sp>
      <p:sp>
        <p:nvSpPr>
          <p:cNvPr id="11" name="TextBox 10"/>
          <p:cNvSpPr txBox="1"/>
          <p:nvPr/>
        </p:nvSpPr>
        <p:spPr>
          <a:xfrm>
            <a:off x="8534400" y="1903286"/>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Expo 53 · Expo Router · native iOS and Android</a:t>
            </a:r>
          </a:p>
        </p:txBody>
      </p:sp>
      <p:sp>
        <p:nvSpPr>
          <p:cNvPr id="12" name="Rectangle 11"/>
          <p:cNvSpPr/>
          <p:nvPr/>
        </p:nvSpPr>
        <p:spPr>
          <a:xfrm>
            <a:off x="7467600" y="2139696"/>
            <a:ext cx="4114800" cy="7144"/>
          </a:xfrm>
          <a:prstGeom prst="rect">
            <a:avLst/>
          </a:prstGeom>
          <a:solidFill>
            <a:srgbClr val="F0EFF7"/>
          </a:solidFill>
          <a:ln>
            <a:noFill/>
          </a:ln>
          <a:effectLst/>
        </p:spPr>
        <p:txBody>
          <a:bodyPr rtlCol="0" anchor="ctr" wrap="square"/>
          <a:lstStyle/>
          <a:p>
            <a:pPr algn="ctr"/>
          </a:p>
        </p:txBody>
      </p:sp>
      <p:sp>
        <p:nvSpPr>
          <p:cNvPr id="13" name="TextBox 12"/>
          <p:cNvSpPr txBox="1"/>
          <p:nvPr/>
        </p:nvSpPr>
        <p:spPr>
          <a:xfrm>
            <a:off x="7467600" y="2225421"/>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SHARED CORE</a:t>
            </a:r>
          </a:p>
        </p:txBody>
      </p:sp>
      <p:sp>
        <p:nvSpPr>
          <p:cNvPr id="14" name="TextBox 13"/>
          <p:cNvSpPr txBox="1"/>
          <p:nvPr/>
        </p:nvSpPr>
        <p:spPr>
          <a:xfrm>
            <a:off x="8534400" y="2206371"/>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packages/shared — models, services, tRPC client, WebSocket client</a:t>
            </a:r>
          </a:p>
        </p:txBody>
      </p:sp>
      <p:sp>
        <p:nvSpPr>
          <p:cNvPr id="15" name="Rectangle 14"/>
          <p:cNvSpPr/>
          <p:nvPr/>
        </p:nvSpPr>
        <p:spPr>
          <a:xfrm>
            <a:off x="7467600" y="2602992"/>
            <a:ext cx="4114800" cy="7144"/>
          </a:xfrm>
          <a:prstGeom prst="rect">
            <a:avLst/>
          </a:prstGeom>
          <a:solidFill>
            <a:srgbClr val="F0EFF7"/>
          </a:solidFill>
          <a:ln>
            <a:noFill/>
          </a:ln>
          <a:effectLst/>
        </p:spPr>
        <p:txBody>
          <a:bodyPr rtlCol="0" anchor="ctr" wrap="square"/>
          <a:lstStyle/>
          <a:p>
            <a:pPr algn="ctr"/>
          </a:p>
        </p:txBody>
      </p:sp>
      <p:sp>
        <p:nvSpPr>
          <p:cNvPr id="16" name="TextBox 15"/>
          <p:cNvSpPr txBox="1"/>
          <p:nvPr/>
        </p:nvSpPr>
        <p:spPr>
          <a:xfrm>
            <a:off x="7467600" y="2688717"/>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DATA</a:t>
            </a:r>
          </a:p>
        </p:txBody>
      </p:sp>
      <p:sp>
        <p:nvSpPr>
          <p:cNvPr id="17" name="TextBox 16"/>
          <p:cNvSpPr txBox="1"/>
          <p:nvPr/>
        </p:nvSpPr>
        <p:spPr>
          <a:xfrm>
            <a:off x="8534400" y="2669667"/>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packages/database — Drizzle ORM schema on PostgreSQL</a:t>
            </a:r>
          </a:p>
        </p:txBody>
      </p:sp>
      <p:sp>
        <p:nvSpPr>
          <p:cNvPr id="18" name="Rectangle 17"/>
          <p:cNvSpPr/>
          <p:nvPr/>
        </p:nvSpPr>
        <p:spPr>
          <a:xfrm>
            <a:off x="7467600" y="2906077"/>
            <a:ext cx="4114800" cy="7144"/>
          </a:xfrm>
          <a:prstGeom prst="rect">
            <a:avLst/>
          </a:prstGeom>
          <a:solidFill>
            <a:srgbClr val="F0EFF7"/>
          </a:solidFill>
          <a:ln>
            <a:noFill/>
          </a:ln>
          <a:effectLst/>
        </p:spPr>
        <p:txBody>
          <a:bodyPr rtlCol="0" anchor="ctr" wrap="square"/>
          <a:lstStyle/>
          <a:p>
            <a:pPr algn="ctr"/>
          </a:p>
        </p:txBody>
      </p:sp>
      <p:sp>
        <p:nvSpPr>
          <p:cNvPr id="19" name="TextBox 18"/>
          <p:cNvSpPr txBox="1"/>
          <p:nvPr/>
        </p:nvSpPr>
        <p:spPr>
          <a:xfrm>
            <a:off x="7467600" y="2991802"/>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REALTIME</a:t>
            </a:r>
          </a:p>
        </p:txBody>
      </p:sp>
      <p:sp>
        <p:nvSpPr>
          <p:cNvPr id="20" name="TextBox 19"/>
          <p:cNvSpPr txBox="1"/>
          <p:nvPr/>
        </p:nvSpPr>
        <p:spPr>
          <a:xfrm>
            <a:off x="8534400" y="2972752"/>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packages/websocket — Socket.io server for live case chat</a:t>
            </a:r>
          </a:p>
        </p:txBody>
      </p:sp>
      <p:sp>
        <p:nvSpPr>
          <p:cNvPr id="21" name="Rectangle 20"/>
          <p:cNvSpPr/>
          <p:nvPr/>
        </p:nvSpPr>
        <p:spPr>
          <a:xfrm>
            <a:off x="7467600" y="3369373"/>
            <a:ext cx="4114800" cy="7144"/>
          </a:xfrm>
          <a:prstGeom prst="rect">
            <a:avLst/>
          </a:prstGeom>
          <a:solidFill>
            <a:srgbClr val="F0EFF7"/>
          </a:solidFill>
          <a:ln>
            <a:noFill/>
          </a:ln>
          <a:effectLst/>
        </p:spPr>
        <p:txBody>
          <a:bodyPr rtlCol="0" anchor="ctr" wrap="square"/>
          <a:lstStyle/>
          <a:p>
            <a:pPr algn="ctr"/>
          </a:p>
        </p:txBody>
      </p:sp>
      <p:sp>
        <p:nvSpPr>
          <p:cNvPr id="22" name="TextBox 21"/>
          <p:cNvSpPr txBox="1"/>
          <p:nvPr/>
        </p:nvSpPr>
        <p:spPr>
          <a:xfrm>
            <a:off x="7467600" y="3455098"/>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BUILD &amp; DEPLOY</a:t>
            </a:r>
          </a:p>
        </p:txBody>
      </p:sp>
      <p:sp>
        <p:nvSpPr>
          <p:cNvPr id="23" name="TextBox 22"/>
          <p:cNvSpPr txBox="1"/>
          <p:nvPr/>
        </p:nvSpPr>
        <p:spPr>
          <a:xfrm>
            <a:off x="8534400" y="3436048"/>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Turborepo · Docker · Google Cloud Build · Firebase Storage</a:t>
            </a:r>
          </a:p>
        </p:txBody>
      </p:sp>
      <p:sp>
        <p:nvSpPr>
          <p:cNvPr id="24" name="Rectangle 23"/>
          <p:cNvSpPr/>
          <p:nvPr/>
        </p:nvSpPr>
        <p:spPr>
          <a:xfrm>
            <a:off x="7467600" y="3832669"/>
            <a:ext cx="4114800" cy="7144"/>
          </a:xfrm>
          <a:prstGeom prst="rect">
            <a:avLst/>
          </a:prstGeom>
          <a:solidFill>
            <a:srgbClr val="F0EFF7"/>
          </a:solidFill>
          <a:ln>
            <a:noFill/>
          </a:ln>
          <a:effectLst/>
        </p:spPr>
        <p:txBody>
          <a:bodyPr rtlCol="0" anchor="ctr" wrap="square"/>
          <a:lstStyle/>
          <a:p>
            <a:pPr algn="ctr"/>
          </a:p>
        </p:txBody>
      </p:sp>
      <p:sp>
        <p:nvSpPr>
          <p:cNvPr id="25" name="TextBox 24"/>
          <p:cNvSpPr txBox="1"/>
          <p:nvPr/>
        </p:nvSpPr>
        <p:spPr>
          <a:xfrm>
            <a:off x="7467600" y="4032694"/>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NOTABLE</a:t>
            </a:r>
          </a:p>
        </p:txBody>
      </p:sp>
      <p:sp>
        <p:nvSpPr>
          <p:cNvPr id="26" name="TextBox 25"/>
          <p:cNvSpPr txBox="1"/>
          <p:nvPr/>
        </p:nvSpPr>
        <p:spPr>
          <a:xfrm>
            <a:off x="7467600" y="4242244"/>
            <a:ext cx="4114800" cy="2476500"/>
          </a:xfrm>
          <a:prstGeom prst="rect">
            <a:avLst/>
          </a:prstGeom>
          <a:noFill/>
        </p:spPr>
        <p:txBody>
          <a:bodyPr wrap="square" lIns="0" rIns="0" tIns="0" bIns="0" anchor="t">
            <a:spAutoFit/>
          </a:bodyPr>
          <a:lstStyle/>
          <a:p>
            <a:pPr marL="190500" indent="-190500">
              <a:lnSpc>
                <a:spcPct val="142000"/>
              </a:lnSpc>
              <a:spcAft>
                <a:spcPts val="600"/>
              </a:spcAft>
              <a:buClr>
                <a:srgbClr val="7C3AED"/>
              </a:buClr>
              <a:buFont typeface="Arial"/>
              <a:buChar char="›"/>
            </a:pPr>
            <a:r>
              <a:rPr sz="869" b="0">
                <a:solidFill>
                  <a:srgbClr val="3A3A5C"/>
                </a:solidFill>
                <a:latin typeface="Arial"/>
              </a:rPr>
              <a:t>One monorepo, four packages, two apps — a change to a business rule lands everywhere at once</a:t>
            </a:r>
          </a:p>
          <a:p>
            <a:pPr marL="190500" indent="-190500">
              <a:lnSpc>
                <a:spcPct val="142000"/>
              </a:lnSpc>
              <a:spcAft>
                <a:spcPts val="600"/>
              </a:spcAft>
              <a:buClr>
                <a:srgbClr val="7C3AED"/>
              </a:buClr>
              <a:buFont typeface="Arial"/>
              <a:buChar char="›"/>
            </a:pPr>
            <a:r>
              <a:rPr sz="869" b="0">
                <a:solidFill>
                  <a:srgbClr val="3A3A5C"/>
                </a:solidFill>
                <a:latin typeface="Arial"/>
              </a:rPr>
              <a:t>Design tokens as a package, so web and native render the same product</a:t>
            </a:r>
          </a:p>
          <a:p>
            <a:pPr marL="190500" indent="-190500">
              <a:lnSpc>
                <a:spcPct val="142000"/>
              </a:lnSpc>
              <a:spcAft>
                <a:spcPts val="600"/>
              </a:spcAft>
              <a:buClr>
                <a:srgbClr val="7C3AED"/>
              </a:buClr>
              <a:buFont typeface="Arial"/>
              <a:buChar char="›"/>
            </a:pPr>
            <a:r>
              <a:rPr sz="869" b="0">
                <a:solidFill>
                  <a:srgbClr val="3A3A5C"/>
                </a:solidFill>
                <a:latin typeface="Arial"/>
              </a:rPr>
              <a:t>Real-time case chat over Socket.io, with offline-tolerant client behaviour</a:t>
            </a:r>
          </a:p>
          <a:p>
            <a:pPr marL="190500" indent="-190500">
              <a:lnSpc>
                <a:spcPct val="142000"/>
              </a:lnSpc>
              <a:spcAft>
                <a:spcPts val="600"/>
              </a:spcAft>
              <a:buClr>
                <a:srgbClr val="7C3AED"/>
              </a:buClr>
              <a:buFont typeface="Arial"/>
              <a:buChar char="›"/>
            </a:pPr>
            <a:r>
              <a:rPr sz="869" b="0">
                <a:solidFill>
                  <a:srgbClr val="3A3A5C"/>
                </a:solidFill>
                <a:latin typeface="Arial"/>
              </a:rPr>
              <a:t>Containerised web and websocket services, built and deployed through Cloud Build pipelines</a:t>
            </a:r>
          </a:p>
        </p:txBody>
      </p:sp>
      <p:sp>
        <p:nvSpPr>
          <p:cNvPr id="27" name="TextBox 2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8" name="TextBox 2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t-oac.png"/>
          <p:cNvPicPr>
            <a:picLocks noChangeAspect="1"/>
          </p:cNvPicPr>
          <p:nvPr/>
        </p:nvPicPr>
        <p:blipFill>
          <a:blip r:embed="rId2"/>
          <a:stretch>
            <a:fillRect/>
          </a:stretch>
        </p:blipFill>
        <p:spPr>
          <a:xfrm>
            <a:off x="9963150" y="381000"/>
            <a:ext cx="1676400" cy="1676400"/>
          </a:xfrm>
          <a:prstGeom prst="rect">
            <a:avLst/>
          </a:prstGeom>
        </p:spPr>
      </p:pic>
      <p:sp>
        <p:nvSpPr>
          <p:cNvPr id="3" name="TextBox 2"/>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08</a:t>
            </a:r>
          </a:p>
        </p:txBody>
      </p:sp>
      <p:sp>
        <p:nvSpPr>
          <p:cNvPr id="4" name="TextBox 3"/>
          <p:cNvSpPr txBox="1"/>
          <p:nvPr/>
        </p:nvSpPr>
        <p:spPr>
          <a:xfrm>
            <a:off x="609600" y="6858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Open Air Construction</a:t>
            </a:r>
          </a:p>
        </p:txBody>
      </p:sp>
      <p:sp>
        <p:nvSpPr>
          <p:cNvPr id="5" name="TextBox 4"/>
          <p:cNvSpPr txBox="1"/>
          <p:nvPr/>
        </p:nvSpPr>
        <p:spPr>
          <a:xfrm>
            <a:off x="609600" y="933450"/>
            <a:ext cx="8953500" cy="419100"/>
          </a:xfrm>
          <a:prstGeom prst="rect">
            <a:avLst/>
          </a:prstGeom>
          <a:noFill/>
        </p:spPr>
        <p:txBody>
          <a:bodyPr wrap="square" lIns="0" rIns="0" tIns="0" bIns="0" anchor="t">
            <a:spAutoFit/>
          </a:bodyPr>
          <a:lstStyle/>
          <a:p>
            <a:pPr>
              <a:lnSpc>
                <a:spcPct val="110000"/>
              </a:lnSpc>
            </a:pPr>
            <a:r>
              <a:rPr sz="2550" b="1">
                <a:solidFill>
                  <a:srgbClr val="0A0A1A"/>
                </a:solidFill>
                <a:latin typeface="Arial"/>
              </a:rPr>
              <a:t>A contractor site built to convert, not just to exist</a:t>
            </a:r>
          </a:p>
        </p:txBody>
      </p:sp>
      <p:sp>
        <p:nvSpPr>
          <p:cNvPr id="6" name="TextBox 5"/>
          <p:cNvSpPr txBox="1"/>
          <p:nvPr/>
        </p:nvSpPr>
        <p:spPr>
          <a:xfrm>
            <a:off x="609600" y="1409700"/>
            <a:ext cx="10972800" cy="171450"/>
          </a:xfrm>
          <a:prstGeom prst="rect">
            <a:avLst/>
          </a:prstGeom>
          <a:noFill/>
        </p:spPr>
        <p:txBody>
          <a:bodyPr wrap="square" lIns="0" rIns="0" tIns="0" bIns="0" anchor="t">
            <a:spAutoFit/>
          </a:bodyPr>
          <a:lstStyle/>
          <a:p>
            <a:pPr>
              <a:lnSpc>
                <a:spcPct val="135000"/>
              </a:lnSpc>
            </a:pPr>
            <a:r>
              <a:rPr sz="600" b="1" spc="120">
                <a:solidFill>
                  <a:srgbClr val="8888A0"/>
                </a:solidFill>
                <a:latin typeface="Courier New"/>
              </a:rPr>
              <a:t>COMMERCIAL WEB · LEAD GENERATION · LOCAL SEO</a:t>
            </a:r>
          </a:p>
        </p:txBody>
      </p:sp>
      <p:sp>
        <p:nvSpPr>
          <p:cNvPr id="7" name="TextBox 6"/>
          <p:cNvSpPr txBox="1"/>
          <p:nvPr/>
        </p:nvSpPr>
        <p:spPr>
          <a:xfrm>
            <a:off x="609600" y="1771650"/>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CONTEXT</a:t>
            </a:r>
          </a:p>
        </p:txBody>
      </p:sp>
      <p:sp>
        <p:nvSpPr>
          <p:cNvPr id="8" name="TextBox 7"/>
          <p:cNvSpPr txBox="1"/>
          <p:nvPr/>
        </p:nvSpPr>
        <p:spPr>
          <a:xfrm>
            <a:off x="609600" y="1962150"/>
            <a:ext cx="3238500" cy="1143000"/>
          </a:xfrm>
          <a:prstGeom prst="rect">
            <a:avLst/>
          </a:prstGeom>
          <a:noFill/>
        </p:spPr>
        <p:txBody>
          <a:bodyPr wrap="square" lIns="0" rIns="0" tIns="0" bIns="0" anchor="t">
            <a:spAutoFit/>
          </a:bodyPr>
          <a:lstStyle/>
          <a:p>
            <a:pPr>
              <a:lnSpc>
                <a:spcPct val="155000"/>
              </a:lnSpc>
            </a:pPr>
            <a:r>
              <a:rPr sz="960" b="0">
                <a:solidFill>
                  <a:srgbClr val="64648A"/>
                </a:solidFill>
                <a:latin typeface="Arial"/>
              </a:rPr>
              <a:t>Charlotte deck and outdoor-living contractor website — a production marketing site with a full lead pipeline behind it.</a:t>
            </a:r>
          </a:p>
        </p:txBody>
      </p:sp>
      <p:sp>
        <p:nvSpPr>
          <p:cNvPr id="9" name="TextBox 8"/>
          <p:cNvSpPr txBox="1"/>
          <p:nvPr/>
        </p:nvSpPr>
        <p:spPr>
          <a:xfrm>
            <a:off x="609600" y="2795016"/>
            <a:ext cx="3238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PROBLEM</a:t>
            </a:r>
          </a:p>
        </p:txBody>
      </p:sp>
      <p:sp>
        <p:nvSpPr>
          <p:cNvPr id="10" name="TextBox 9"/>
          <p:cNvSpPr txBox="1"/>
          <p:nvPr/>
        </p:nvSpPr>
        <p:spPr>
          <a:xfrm>
            <a:off x="609600" y="2985516"/>
            <a:ext cx="3238500" cy="1524000"/>
          </a:xfrm>
          <a:prstGeom prst="rect">
            <a:avLst/>
          </a:prstGeom>
          <a:noFill/>
        </p:spPr>
        <p:txBody>
          <a:bodyPr wrap="square" lIns="0" rIns="0" tIns="0" bIns="0" anchor="t">
            <a:spAutoFit/>
          </a:bodyPr>
          <a:lstStyle/>
          <a:p>
            <a:pPr>
              <a:lnSpc>
                <a:spcPct val="155000"/>
              </a:lnSpc>
            </a:pPr>
            <a:r>
              <a:rPr sz="960" b="0">
                <a:solidFill>
                  <a:srgbClr val="64648A"/>
                </a:solidFill>
                <a:latin typeface="Arial"/>
              </a:rPr>
              <a:t>A local contractor needs more than a brochure: fast pages, trust signals, service-area coverage, and a dependable way to turn consultation requests into leads someone actually follows up — without losing editorial control or SEO.</a:t>
            </a:r>
          </a:p>
        </p:txBody>
      </p:sp>
      <p:sp>
        <p:nvSpPr>
          <p:cNvPr id="11" name="TextBox 10"/>
          <p:cNvSpPr txBox="1"/>
          <p:nvPr/>
        </p:nvSpPr>
        <p:spPr>
          <a:xfrm>
            <a:off x="4171950" y="1771650"/>
            <a:ext cx="66675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WE BUILT</a:t>
            </a:r>
          </a:p>
        </p:txBody>
      </p:sp>
      <p:sp>
        <p:nvSpPr>
          <p:cNvPr id="12" name="TextBox 11"/>
          <p:cNvSpPr txBox="1"/>
          <p:nvPr/>
        </p:nvSpPr>
        <p:spPr>
          <a:xfrm>
            <a:off x="4171950" y="1962150"/>
            <a:ext cx="7410450" cy="3238500"/>
          </a:xfrm>
          <a:prstGeom prst="rect">
            <a:avLst/>
          </a:prstGeom>
          <a:noFill/>
        </p:spPr>
        <p:txBody>
          <a:bodyPr wrap="square" lIns="0" rIns="0" tIns="0" bIns="0" anchor="t">
            <a:spAutoFit/>
          </a:bodyPr>
          <a:lstStyle/>
          <a:p>
            <a:pPr marL="190500" indent="-190500">
              <a:lnSpc>
                <a:spcPct val="142000"/>
              </a:lnSpc>
              <a:spcAft>
                <a:spcPts val="675"/>
              </a:spcAft>
              <a:buClr>
                <a:srgbClr val="7C3AED"/>
              </a:buClr>
              <a:buFont typeface="Arial"/>
              <a:buChar char="▪"/>
            </a:pPr>
            <a:r>
              <a:rPr sz="960" b="0">
                <a:solidFill>
                  <a:srgbClr val="3A3A5C"/>
                </a:solidFill>
                <a:latin typeface="Arial"/>
              </a:rPr>
              <a:t>Next.js 16 App Router with Tailwind CSS v4 over a custom Material 3 token layer, light and dark themes</a:t>
            </a:r>
          </a:p>
          <a:p>
            <a:pPr marL="190500" indent="-190500">
              <a:lnSpc>
                <a:spcPct val="142000"/>
              </a:lnSpc>
              <a:spcAft>
                <a:spcPts val="675"/>
              </a:spcAft>
              <a:buClr>
                <a:srgbClr val="7C3AED"/>
              </a:buClr>
              <a:buFont typeface="Arial"/>
              <a:buChar char="▪"/>
            </a:pPr>
            <a:r>
              <a:rPr sz="960" b="0">
                <a:solidFill>
                  <a:srgbClr val="3A3A5C"/>
                </a:solidFill>
                <a:latin typeface="Arial"/>
              </a:rPr>
              <a:t>A typed content layer — services, team, FAQs and metadata in TypeScript, so structural mistakes fail the build</a:t>
            </a:r>
          </a:p>
          <a:p>
            <a:pPr marL="190500" indent="-190500">
              <a:lnSpc>
                <a:spcPct val="142000"/>
              </a:lnSpc>
              <a:spcAft>
                <a:spcPts val="675"/>
              </a:spcAft>
              <a:buClr>
                <a:srgbClr val="7C3AED"/>
              </a:buClr>
              <a:buFont typeface="Arial"/>
              <a:buChar char="▪"/>
            </a:pPr>
            <a:r>
              <a:rPr sz="960" b="0">
                <a:solidFill>
                  <a:srgbClr val="3A3A5C"/>
                </a:solidFill>
                <a:latin typeface="Arial"/>
              </a:rPr>
              <a:t>An MDX blog the owner can add to by dropping in a file, rendered through a custom loader</a:t>
            </a:r>
          </a:p>
          <a:p>
            <a:pPr marL="190500" indent="-190500">
              <a:lnSpc>
                <a:spcPct val="142000"/>
              </a:lnSpc>
              <a:spcAft>
                <a:spcPts val="675"/>
              </a:spcAft>
              <a:buClr>
                <a:srgbClr val="7C3AED"/>
              </a:buClr>
              <a:buFont typeface="Arial"/>
              <a:buChar char="▪"/>
            </a:pPr>
            <a:r>
              <a:rPr sz="960" b="0">
                <a:solidFill>
                  <a:srgbClr val="3A3A5C"/>
                </a:solidFill>
                <a:latin typeface="Arial"/>
              </a:rPr>
              <a:t>Lead pipeline: contact form Server Action with Zod validation, Postgres persistence and Resend email notification</a:t>
            </a:r>
          </a:p>
          <a:p>
            <a:pPr marL="190500" indent="-190500">
              <a:lnSpc>
                <a:spcPct val="142000"/>
              </a:lnSpc>
              <a:spcAft>
                <a:spcPts val="675"/>
              </a:spcAft>
              <a:buClr>
                <a:srgbClr val="7C3AED"/>
              </a:buClr>
              <a:buFont typeface="Arial"/>
              <a:buChar char="▪"/>
            </a:pPr>
            <a:r>
              <a:rPr sz="960" b="0">
                <a:solidFill>
                  <a:srgbClr val="3A3A5C"/>
                </a:solidFill>
                <a:latin typeface="Arial"/>
              </a:rPr>
              <a:t>A protected admin inbox with bcrypt auth, lead filtering, status management and CRM sync hooks</a:t>
            </a:r>
          </a:p>
          <a:p>
            <a:pPr marL="190500" indent="-190500">
              <a:lnSpc>
                <a:spcPct val="142000"/>
              </a:lnSpc>
              <a:spcAft>
                <a:spcPts val="675"/>
              </a:spcAft>
              <a:buClr>
                <a:srgbClr val="7C3AED"/>
              </a:buClr>
              <a:buFont typeface="Arial"/>
              <a:buChar char="▪"/>
            </a:pPr>
            <a:r>
              <a:rPr sz="960" b="0">
                <a:solidFill>
                  <a:srgbClr val="3A3A5C"/>
                </a:solidFill>
                <a:latin typeface="Arial"/>
              </a:rPr>
              <a:t>Technical SEO — LocalBusiness, Service and FAQ JSON-LD, sitemap, robots, dynamic OG images</a:t>
            </a:r>
          </a:p>
        </p:txBody>
      </p:sp>
      <p:sp>
        <p:nvSpPr>
          <p:cNvPr id="13" name="Rectangle 12"/>
          <p:cNvSpPr/>
          <p:nvPr/>
        </p:nvSpPr>
        <p:spPr>
          <a:xfrm>
            <a:off x="609600" y="5295900"/>
            <a:ext cx="10972800" cy="990600"/>
          </a:xfrm>
          <a:prstGeom prst="rect">
            <a:avLst/>
          </a:prstGeom>
          <a:solidFill>
            <a:srgbClr val="FBFAFE"/>
          </a:solidFill>
          <a:ln>
            <a:noFill/>
          </a:ln>
          <a:effectLst/>
        </p:spPr>
        <p:txBody>
          <a:bodyPr rtlCol="0" anchor="ctr" wrap="square"/>
          <a:lstStyle/>
          <a:p>
            <a:pPr algn="ctr"/>
          </a:p>
        </p:txBody>
      </p:sp>
      <p:sp>
        <p:nvSpPr>
          <p:cNvPr id="14" name="Rectangle 13"/>
          <p:cNvSpPr/>
          <p:nvPr/>
        </p:nvSpPr>
        <p:spPr>
          <a:xfrm>
            <a:off x="609600" y="5295900"/>
            <a:ext cx="28575" cy="990600"/>
          </a:xfrm>
          <a:prstGeom prst="rect">
            <a:avLst/>
          </a:prstGeom>
          <a:solidFill>
            <a:srgbClr val="7C3AED"/>
          </a:solidFill>
          <a:ln>
            <a:noFill/>
          </a:ln>
          <a:effectLst/>
        </p:spPr>
        <p:txBody>
          <a:bodyPr rtlCol="0" anchor="ctr" wrap="square"/>
          <a:lstStyle/>
          <a:p>
            <a:pPr algn="ctr"/>
          </a:p>
        </p:txBody>
      </p:sp>
      <p:sp>
        <p:nvSpPr>
          <p:cNvPr id="15" name="TextBox 14"/>
          <p:cNvSpPr txBox="1"/>
          <p:nvPr/>
        </p:nvSpPr>
        <p:spPr>
          <a:xfrm>
            <a:off x="800100" y="5448300"/>
            <a:ext cx="57150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THE RESULT</a:t>
            </a:r>
          </a:p>
        </p:txBody>
      </p:sp>
      <p:sp>
        <p:nvSpPr>
          <p:cNvPr id="16" name="TextBox 15"/>
          <p:cNvSpPr txBox="1"/>
          <p:nvPr/>
        </p:nvSpPr>
        <p:spPr>
          <a:xfrm>
            <a:off x="800100" y="5638800"/>
            <a:ext cx="10401300" cy="571500"/>
          </a:xfrm>
          <a:prstGeom prst="rect">
            <a:avLst/>
          </a:prstGeom>
          <a:noFill/>
        </p:spPr>
        <p:txBody>
          <a:bodyPr wrap="square" lIns="0" rIns="0" tIns="0" bIns="0" anchor="t">
            <a:spAutoFit/>
          </a:bodyPr>
          <a:lstStyle/>
          <a:p>
            <a:pPr>
              <a:lnSpc>
                <a:spcPct val="150000"/>
              </a:lnSpc>
            </a:pPr>
            <a:r>
              <a:rPr sz="960" b="0">
                <a:solidFill>
                  <a:srgbClr val="3A3A5C"/>
                </a:solidFill>
                <a:latin typeface="Arial"/>
              </a:rPr>
              <a:t>A Lighthouse SEO score of 100, an editor workflow that needs no developer, and JobTread CRM plus AI enrichment already wired in behind environment keys — they switch on without touching the plumbing.</a:t>
            </a:r>
          </a:p>
        </p:txBody>
      </p:sp>
      <p:sp>
        <p:nvSpPr>
          <p:cNvPr id="17" name="TextBox 1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8" name="TextBox 1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8572500" cy="209550"/>
          </a:xfrm>
          <a:prstGeom prst="rect">
            <a:avLst/>
          </a:prstGeom>
          <a:noFill/>
        </p:spPr>
        <p:txBody>
          <a:bodyPr wrap="square" lIns="0" rIns="0" tIns="0" bIns="0" anchor="t">
            <a:spAutoFit/>
          </a:bodyPr>
          <a:lstStyle/>
          <a:p>
            <a:pPr>
              <a:lnSpc>
                <a:spcPct val="135000"/>
              </a:lnSpc>
            </a:pPr>
            <a:r>
              <a:rPr sz="1125" b="1">
                <a:solidFill>
                  <a:srgbClr val="7C3AED"/>
                </a:solidFill>
                <a:latin typeface="Arial"/>
              </a:rPr>
              <a:t>Open Air Construction</a:t>
            </a:r>
          </a:p>
        </p:txBody>
      </p:sp>
      <p:sp>
        <p:nvSpPr>
          <p:cNvPr id="3" name="TextBox 2"/>
          <p:cNvSpPr txBox="1"/>
          <p:nvPr/>
        </p:nvSpPr>
        <p:spPr>
          <a:xfrm>
            <a:off x="609600" y="723900"/>
            <a:ext cx="8572500" cy="419100"/>
          </a:xfrm>
          <a:prstGeom prst="rect">
            <a:avLst/>
          </a:prstGeom>
          <a:noFill/>
        </p:spPr>
        <p:txBody>
          <a:bodyPr wrap="square" lIns="0" rIns="0" tIns="0" bIns="0" anchor="t">
            <a:spAutoFit/>
          </a:bodyPr>
          <a:lstStyle/>
          <a:p>
            <a:pPr>
              <a:lnSpc>
                <a:spcPct val="135000"/>
              </a:lnSpc>
            </a:pPr>
            <a:r>
              <a:rPr sz="2100" b="1">
                <a:solidFill>
                  <a:srgbClr val="0A0A1A"/>
                </a:solidFill>
                <a:latin typeface="Arial"/>
              </a:rPr>
              <a:t>Architecture &amp; stack</a:t>
            </a:r>
          </a:p>
        </p:txBody>
      </p:sp>
      <p:sp>
        <p:nvSpPr>
          <p:cNvPr id="4" name="Rounded Rectangle 3"/>
          <p:cNvSpPr/>
          <p:nvPr/>
        </p:nvSpPr>
        <p:spPr>
          <a:xfrm>
            <a:off x="609600" y="1276350"/>
            <a:ext cx="514350" cy="28575"/>
          </a:xfrm>
          <a:prstGeom prst="roundRect">
            <a:avLst>
              <a:gd name="adj" fmla="val 50000"/>
            </a:avLst>
          </a:prstGeom>
          <a:solidFill>
            <a:srgbClr val="7C3AED"/>
          </a:solidFill>
          <a:ln>
            <a:noFill/>
          </a:ln>
          <a:effectLst/>
        </p:spPr>
        <p:txBody>
          <a:bodyPr rtlCol="0" anchor="ctr" wrap="square"/>
          <a:lstStyle/>
          <a:p>
            <a:pPr algn="ctr"/>
          </a:p>
        </p:txBody>
      </p:sp>
      <p:pic>
        <p:nvPicPr>
          <p:cNvPr id="5" name="Picture 4" descr="diagram-oac.png"/>
          <p:cNvPicPr>
            <a:picLocks noChangeAspect="1"/>
          </p:cNvPicPr>
          <p:nvPr/>
        </p:nvPicPr>
        <p:blipFill>
          <a:blip r:embed="rId2"/>
          <a:stretch>
            <a:fillRect/>
          </a:stretch>
        </p:blipFill>
        <p:spPr>
          <a:xfrm>
            <a:off x="609600" y="1428750"/>
            <a:ext cx="6572250" cy="4572000"/>
          </a:xfrm>
          <a:prstGeom prst="rect">
            <a:avLst/>
          </a:prstGeom>
        </p:spPr>
      </p:pic>
      <p:sp>
        <p:nvSpPr>
          <p:cNvPr id="6" name="TextBox 5"/>
          <p:cNvSpPr txBox="1"/>
          <p:nvPr/>
        </p:nvSpPr>
        <p:spPr>
          <a:xfrm>
            <a:off x="7467600" y="1390650"/>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STACK</a:t>
            </a:r>
          </a:p>
        </p:txBody>
      </p:sp>
      <p:sp>
        <p:nvSpPr>
          <p:cNvPr id="7" name="TextBox 6"/>
          <p:cNvSpPr txBox="1"/>
          <p:nvPr/>
        </p:nvSpPr>
        <p:spPr>
          <a:xfrm>
            <a:off x="7467600" y="1619250"/>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FRONTEND</a:t>
            </a:r>
          </a:p>
        </p:txBody>
      </p:sp>
      <p:sp>
        <p:nvSpPr>
          <p:cNvPr id="8" name="TextBox 7"/>
          <p:cNvSpPr txBox="1"/>
          <p:nvPr/>
        </p:nvSpPr>
        <p:spPr>
          <a:xfrm>
            <a:off x="8534400" y="1600200"/>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Next.js 16 · TypeScript · Tailwind CSS v4 · Material 3 tokens · next-themes</a:t>
            </a:r>
          </a:p>
        </p:txBody>
      </p:sp>
      <p:sp>
        <p:nvSpPr>
          <p:cNvPr id="9" name="Rectangle 8"/>
          <p:cNvSpPr/>
          <p:nvPr/>
        </p:nvSpPr>
        <p:spPr>
          <a:xfrm>
            <a:off x="7467600" y="1996821"/>
            <a:ext cx="4114800" cy="7144"/>
          </a:xfrm>
          <a:prstGeom prst="rect">
            <a:avLst/>
          </a:prstGeom>
          <a:solidFill>
            <a:srgbClr val="F0EFF7"/>
          </a:solidFill>
          <a:ln>
            <a:noFill/>
          </a:ln>
          <a:effectLst/>
        </p:spPr>
        <p:txBody>
          <a:bodyPr rtlCol="0" anchor="ctr" wrap="square"/>
          <a:lstStyle/>
          <a:p>
            <a:pPr algn="ctr"/>
          </a:p>
        </p:txBody>
      </p:sp>
      <p:sp>
        <p:nvSpPr>
          <p:cNvPr id="10" name="TextBox 9"/>
          <p:cNvSpPr txBox="1"/>
          <p:nvPr/>
        </p:nvSpPr>
        <p:spPr>
          <a:xfrm>
            <a:off x="7467600" y="2082546"/>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CONTENT</a:t>
            </a:r>
          </a:p>
        </p:txBody>
      </p:sp>
      <p:sp>
        <p:nvSpPr>
          <p:cNvPr id="11" name="TextBox 10"/>
          <p:cNvSpPr txBox="1"/>
          <p:nvPr/>
        </p:nvSpPr>
        <p:spPr>
          <a:xfrm>
            <a:off x="8534400" y="2063496"/>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Typed TS content modules · MDX blog via next-mdx-remote/rsc</a:t>
            </a:r>
          </a:p>
        </p:txBody>
      </p:sp>
      <p:sp>
        <p:nvSpPr>
          <p:cNvPr id="12" name="Rectangle 11"/>
          <p:cNvSpPr/>
          <p:nvPr/>
        </p:nvSpPr>
        <p:spPr>
          <a:xfrm>
            <a:off x="7467600" y="2460117"/>
            <a:ext cx="4114800" cy="7144"/>
          </a:xfrm>
          <a:prstGeom prst="rect">
            <a:avLst/>
          </a:prstGeom>
          <a:solidFill>
            <a:srgbClr val="F0EFF7"/>
          </a:solidFill>
          <a:ln>
            <a:noFill/>
          </a:ln>
          <a:effectLst/>
        </p:spPr>
        <p:txBody>
          <a:bodyPr rtlCol="0" anchor="ctr" wrap="square"/>
          <a:lstStyle/>
          <a:p>
            <a:pPr algn="ctr"/>
          </a:p>
        </p:txBody>
      </p:sp>
      <p:sp>
        <p:nvSpPr>
          <p:cNvPr id="13" name="TextBox 12"/>
          <p:cNvSpPr txBox="1"/>
          <p:nvPr/>
        </p:nvSpPr>
        <p:spPr>
          <a:xfrm>
            <a:off x="7467600" y="2545842"/>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BACKEND</a:t>
            </a:r>
          </a:p>
        </p:txBody>
      </p:sp>
      <p:sp>
        <p:nvSpPr>
          <p:cNvPr id="14" name="TextBox 13"/>
          <p:cNvSpPr txBox="1"/>
          <p:nvPr/>
        </p:nvSpPr>
        <p:spPr>
          <a:xfrm>
            <a:off x="8534400" y="2526792"/>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Server Actions · Zod validation · PostgreSQL (Neon)</a:t>
            </a:r>
          </a:p>
        </p:txBody>
      </p:sp>
      <p:sp>
        <p:nvSpPr>
          <p:cNvPr id="15" name="Rectangle 14"/>
          <p:cNvSpPr/>
          <p:nvPr/>
        </p:nvSpPr>
        <p:spPr>
          <a:xfrm>
            <a:off x="7467600" y="2763202"/>
            <a:ext cx="4114800" cy="7144"/>
          </a:xfrm>
          <a:prstGeom prst="rect">
            <a:avLst/>
          </a:prstGeom>
          <a:solidFill>
            <a:srgbClr val="F0EFF7"/>
          </a:solidFill>
          <a:ln>
            <a:noFill/>
          </a:ln>
          <a:effectLst/>
        </p:spPr>
        <p:txBody>
          <a:bodyPr rtlCol="0" anchor="ctr" wrap="square"/>
          <a:lstStyle/>
          <a:p>
            <a:pPr algn="ctr"/>
          </a:p>
        </p:txBody>
      </p:sp>
      <p:sp>
        <p:nvSpPr>
          <p:cNvPr id="16" name="TextBox 15"/>
          <p:cNvSpPr txBox="1"/>
          <p:nvPr/>
        </p:nvSpPr>
        <p:spPr>
          <a:xfrm>
            <a:off x="7467600" y="2848927"/>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EMAIL &amp; CRM</a:t>
            </a:r>
          </a:p>
        </p:txBody>
      </p:sp>
      <p:sp>
        <p:nvSpPr>
          <p:cNvPr id="17" name="TextBox 16"/>
          <p:cNvSpPr txBox="1"/>
          <p:nvPr/>
        </p:nvSpPr>
        <p:spPr>
          <a:xfrm>
            <a:off x="8534400" y="2829877"/>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Resend notifications · JobTread sync seam · AI enrichment gateway</a:t>
            </a:r>
          </a:p>
        </p:txBody>
      </p:sp>
      <p:sp>
        <p:nvSpPr>
          <p:cNvPr id="18" name="Rectangle 17"/>
          <p:cNvSpPr/>
          <p:nvPr/>
        </p:nvSpPr>
        <p:spPr>
          <a:xfrm>
            <a:off x="7467600" y="3226498"/>
            <a:ext cx="4114800" cy="7144"/>
          </a:xfrm>
          <a:prstGeom prst="rect">
            <a:avLst/>
          </a:prstGeom>
          <a:solidFill>
            <a:srgbClr val="F0EFF7"/>
          </a:solidFill>
          <a:ln>
            <a:noFill/>
          </a:ln>
          <a:effectLst/>
        </p:spPr>
        <p:txBody>
          <a:bodyPr rtlCol="0" anchor="ctr" wrap="square"/>
          <a:lstStyle/>
          <a:p>
            <a:pPr algn="ctr"/>
          </a:p>
        </p:txBody>
      </p:sp>
      <p:sp>
        <p:nvSpPr>
          <p:cNvPr id="19" name="TextBox 18"/>
          <p:cNvSpPr txBox="1"/>
          <p:nvPr/>
        </p:nvSpPr>
        <p:spPr>
          <a:xfrm>
            <a:off x="7467600" y="3312223"/>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SEO</a:t>
            </a:r>
          </a:p>
        </p:txBody>
      </p:sp>
      <p:sp>
        <p:nvSpPr>
          <p:cNvPr id="20" name="TextBox 19"/>
          <p:cNvSpPr txBox="1"/>
          <p:nvPr/>
        </p:nvSpPr>
        <p:spPr>
          <a:xfrm>
            <a:off x="8534400" y="3293173"/>
            <a:ext cx="3048000" cy="358521"/>
          </a:xfrm>
          <a:prstGeom prst="rect">
            <a:avLst/>
          </a:prstGeom>
          <a:noFill/>
        </p:spPr>
        <p:txBody>
          <a:bodyPr wrap="square" lIns="0" rIns="0" tIns="0" bIns="0" anchor="t">
            <a:spAutoFit/>
          </a:bodyPr>
          <a:lstStyle/>
          <a:p>
            <a:pPr>
              <a:lnSpc>
                <a:spcPct val="145000"/>
              </a:lnSpc>
            </a:pPr>
            <a:r>
              <a:rPr sz="869" b="0">
                <a:solidFill>
                  <a:srgbClr val="3A3A5C"/>
                </a:solidFill>
                <a:latin typeface="Arial"/>
              </a:rPr>
              <a:t>JSON-LD (LocalBusiness, Service, FAQ) · sitemap · robots · dynamic OG images</a:t>
            </a:r>
          </a:p>
        </p:txBody>
      </p:sp>
      <p:sp>
        <p:nvSpPr>
          <p:cNvPr id="21" name="Rectangle 20"/>
          <p:cNvSpPr/>
          <p:nvPr/>
        </p:nvSpPr>
        <p:spPr>
          <a:xfrm>
            <a:off x="7467600" y="3689794"/>
            <a:ext cx="4114800" cy="7144"/>
          </a:xfrm>
          <a:prstGeom prst="rect">
            <a:avLst/>
          </a:prstGeom>
          <a:solidFill>
            <a:srgbClr val="F0EFF7"/>
          </a:solidFill>
          <a:ln>
            <a:noFill/>
          </a:ln>
          <a:effectLst/>
        </p:spPr>
        <p:txBody>
          <a:bodyPr rtlCol="0" anchor="ctr" wrap="square"/>
          <a:lstStyle/>
          <a:p>
            <a:pPr algn="ctr"/>
          </a:p>
        </p:txBody>
      </p:sp>
      <p:sp>
        <p:nvSpPr>
          <p:cNvPr id="22" name="TextBox 21"/>
          <p:cNvSpPr txBox="1"/>
          <p:nvPr/>
        </p:nvSpPr>
        <p:spPr>
          <a:xfrm>
            <a:off x="7467600" y="3775519"/>
            <a:ext cx="1028700" cy="152400"/>
          </a:xfrm>
          <a:prstGeom prst="rect">
            <a:avLst/>
          </a:prstGeom>
          <a:noFill/>
        </p:spPr>
        <p:txBody>
          <a:bodyPr wrap="square" lIns="0" rIns="0" tIns="0" bIns="0" anchor="t">
            <a:spAutoFit/>
          </a:bodyPr>
          <a:lstStyle/>
          <a:p>
            <a:pPr>
              <a:lnSpc>
                <a:spcPct val="135000"/>
              </a:lnSpc>
            </a:pPr>
            <a:r>
              <a:rPr sz="600" b="1" spc="70">
                <a:solidFill>
                  <a:srgbClr val="7C3AED"/>
                </a:solidFill>
                <a:latin typeface="Courier New"/>
              </a:rPr>
              <a:t>QUALITY &amp; OPS</a:t>
            </a:r>
          </a:p>
        </p:txBody>
      </p:sp>
      <p:sp>
        <p:nvSpPr>
          <p:cNvPr id="23" name="TextBox 22"/>
          <p:cNvSpPr txBox="1"/>
          <p:nvPr/>
        </p:nvSpPr>
        <p:spPr>
          <a:xfrm>
            <a:off x="8534400" y="3756469"/>
            <a:ext cx="3048000" cy="198310"/>
          </a:xfrm>
          <a:prstGeom prst="rect">
            <a:avLst/>
          </a:prstGeom>
          <a:noFill/>
        </p:spPr>
        <p:txBody>
          <a:bodyPr wrap="square" lIns="0" rIns="0" tIns="0" bIns="0" anchor="t">
            <a:spAutoFit/>
          </a:bodyPr>
          <a:lstStyle/>
          <a:p>
            <a:pPr>
              <a:lnSpc>
                <a:spcPct val="145000"/>
              </a:lnSpc>
            </a:pPr>
            <a:r>
              <a:rPr sz="869" b="0">
                <a:solidFill>
                  <a:srgbClr val="3A3A5C"/>
                </a:solidFill>
                <a:latin typeface="Arial"/>
              </a:rPr>
              <a:t>Vitest + Testing Library · Vercel deployment</a:t>
            </a:r>
          </a:p>
        </p:txBody>
      </p:sp>
      <p:sp>
        <p:nvSpPr>
          <p:cNvPr id="24" name="Rectangle 23"/>
          <p:cNvSpPr/>
          <p:nvPr/>
        </p:nvSpPr>
        <p:spPr>
          <a:xfrm>
            <a:off x="7467600" y="3992880"/>
            <a:ext cx="4114800" cy="7144"/>
          </a:xfrm>
          <a:prstGeom prst="rect">
            <a:avLst/>
          </a:prstGeom>
          <a:solidFill>
            <a:srgbClr val="F0EFF7"/>
          </a:solidFill>
          <a:ln>
            <a:noFill/>
          </a:ln>
          <a:effectLst/>
        </p:spPr>
        <p:txBody>
          <a:bodyPr rtlCol="0" anchor="ctr" wrap="square"/>
          <a:lstStyle/>
          <a:p>
            <a:pPr algn="ctr"/>
          </a:p>
        </p:txBody>
      </p:sp>
      <p:sp>
        <p:nvSpPr>
          <p:cNvPr id="25" name="TextBox 24"/>
          <p:cNvSpPr txBox="1"/>
          <p:nvPr/>
        </p:nvSpPr>
        <p:spPr>
          <a:xfrm>
            <a:off x="7467600" y="4192905"/>
            <a:ext cx="41148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NOTABLE</a:t>
            </a:r>
          </a:p>
        </p:txBody>
      </p:sp>
      <p:sp>
        <p:nvSpPr>
          <p:cNvPr id="26" name="TextBox 25"/>
          <p:cNvSpPr txBox="1"/>
          <p:nvPr/>
        </p:nvSpPr>
        <p:spPr>
          <a:xfrm>
            <a:off x="7467600" y="4402455"/>
            <a:ext cx="4114800" cy="2476500"/>
          </a:xfrm>
          <a:prstGeom prst="rect">
            <a:avLst/>
          </a:prstGeom>
          <a:noFill/>
        </p:spPr>
        <p:txBody>
          <a:bodyPr wrap="square" lIns="0" rIns="0" tIns="0" bIns="0" anchor="t">
            <a:spAutoFit/>
          </a:bodyPr>
          <a:lstStyle/>
          <a:p>
            <a:pPr marL="190500" indent="-190500">
              <a:lnSpc>
                <a:spcPct val="142000"/>
              </a:lnSpc>
              <a:spcAft>
                <a:spcPts val="600"/>
              </a:spcAft>
              <a:buClr>
                <a:srgbClr val="7C3AED"/>
              </a:buClr>
              <a:buFont typeface="Arial"/>
              <a:buChar char="›"/>
            </a:pPr>
            <a:r>
              <a:rPr sz="869" b="0">
                <a:solidFill>
                  <a:srgbClr val="3A3A5C"/>
                </a:solidFill>
                <a:latin typeface="Arial"/>
              </a:rPr>
              <a:t>Lighthouse SEO score of 100 at launch</a:t>
            </a:r>
          </a:p>
          <a:p>
            <a:pPr marL="190500" indent="-190500">
              <a:lnSpc>
                <a:spcPct val="142000"/>
              </a:lnSpc>
              <a:spcAft>
                <a:spcPts val="600"/>
              </a:spcAft>
              <a:buClr>
                <a:srgbClr val="7C3AED"/>
              </a:buClr>
              <a:buFont typeface="Arial"/>
              <a:buChar char="›"/>
            </a:pPr>
            <a:r>
              <a:rPr sz="869" b="0">
                <a:solidFill>
                  <a:srgbClr val="3A3A5C"/>
                </a:solidFill>
                <a:latin typeface="Arial"/>
              </a:rPr>
              <a:t>Non-developers publish blog posts and update service copy without touching layout code</a:t>
            </a:r>
          </a:p>
          <a:p>
            <a:pPr marL="190500" indent="-190500">
              <a:lnSpc>
                <a:spcPct val="142000"/>
              </a:lnSpc>
              <a:spcAft>
                <a:spcPts val="600"/>
              </a:spcAft>
              <a:buClr>
                <a:srgbClr val="7C3AED"/>
              </a:buClr>
              <a:buFont typeface="Arial"/>
              <a:buChar char="›"/>
            </a:pPr>
            <a:r>
              <a:rPr sz="869" b="0">
                <a:solidFill>
                  <a:srgbClr val="3A3A5C"/>
                </a:solidFill>
                <a:latin typeface="Arial"/>
              </a:rPr>
              <a:t>Integrations activate by setting environment keys — no code change required</a:t>
            </a:r>
          </a:p>
          <a:p>
            <a:pPr marL="190500" indent="-190500">
              <a:lnSpc>
                <a:spcPct val="142000"/>
              </a:lnSpc>
              <a:spcAft>
                <a:spcPts val="600"/>
              </a:spcAft>
              <a:buClr>
                <a:srgbClr val="7C3AED"/>
              </a:buClr>
              <a:buFont typeface="Arial"/>
              <a:buChar char="›"/>
            </a:pPr>
            <a:r>
              <a:rPr sz="869" b="0">
                <a:solidFill>
                  <a:srgbClr val="3A3A5C"/>
                </a:solidFill>
                <a:latin typeface="Arial"/>
              </a:rPr>
              <a:t>Proof that the same team that ships regulated AI platforms also ships a marketing site in weeks</a:t>
            </a:r>
          </a:p>
        </p:txBody>
      </p:sp>
      <p:sp>
        <p:nvSpPr>
          <p:cNvPr id="27" name="TextBox 2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8" name="TextBox 2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09</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Trinly — services</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AI strategy through to shipped product. Delivered from the US and Europe, with the India engineering bench behind every engagement.</a:t>
            </a:r>
          </a:p>
        </p:txBody>
      </p:sp>
      <p:sp>
        <p:nvSpPr>
          <p:cNvPr id="6" name="Rounded Rectangle 5"/>
          <p:cNvSpPr/>
          <p:nvPr/>
        </p:nvSpPr>
        <p:spPr>
          <a:xfrm>
            <a:off x="609600"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7" name="TextBox 6"/>
          <p:cNvSpPr txBox="1"/>
          <p:nvPr/>
        </p:nvSpPr>
        <p:spPr>
          <a:xfrm>
            <a:off x="800100"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AI strategy &amp; consulting</a:t>
            </a:r>
          </a:p>
          <a:p>
            <a:pPr>
              <a:lnSpc>
                <a:spcPct val="150000"/>
              </a:lnSpc>
            </a:pPr>
            <a:r>
              <a:rPr sz="930" b="0">
                <a:solidFill>
                  <a:srgbClr val="64648A"/>
                </a:solidFill>
                <a:latin typeface="Arial"/>
              </a:rPr>
              <a:t>Where AI actually pays in your business, what to build first, and what to leave alone.</a:t>
            </a:r>
          </a:p>
        </p:txBody>
      </p:sp>
      <p:sp>
        <p:nvSpPr>
          <p:cNvPr id="8" name="Rounded Rectangle 7"/>
          <p:cNvSpPr/>
          <p:nvPr/>
        </p:nvSpPr>
        <p:spPr>
          <a:xfrm>
            <a:off x="3386138"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9" name="TextBox 8"/>
          <p:cNvSpPr txBox="1"/>
          <p:nvPr/>
        </p:nvSpPr>
        <p:spPr>
          <a:xfrm>
            <a:off x="3576638"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RAG &amp; retrieval systems</a:t>
            </a:r>
          </a:p>
          <a:p>
            <a:pPr>
              <a:lnSpc>
                <a:spcPct val="150000"/>
              </a:lnSpc>
            </a:pPr>
            <a:r>
              <a:rPr sz="930" b="0">
                <a:solidFill>
                  <a:srgbClr val="64648A"/>
                </a:solidFill>
                <a:latin typeface="Arial"/>
              </a:rPr>
              <a:t>Chunking, embeddings, vector search, reranking and evaluation — grounded answers with citations.</a:t>
            </a:r>
          </a:p>
        </p:txBody>
      </p:sp>
      <p:sp>
        <p:nvSpPr>
          <p:cNvPr id="10" name="Rounded Rectangle 9"/>
          <p:cNvSpPr/>
          <p:nvPr/>
        </p:nvSpPr>
        <p:spPr>
          <a:xfrm>
            <a:off x="6162675"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1" name="TextBox 10"/>
          <p:cNvSpPr txBox="1"/>
          <p:nvPr/>
        </p:nvSpPr>
        <p:spPr>
          <a:xfrm>
            <a:off x="6353175"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Model training &amp; fine-tuning</a:t>
            </a:r>
          </a:p>
          <a:p>
            <a:pPr>
              <a:lnSpc>
                <a:spcPct val="150000"/>
              </a:lnSpc>
            </a:pPr>
            <a:r>
              <a:rPr sz="930" b="0">
                <a:solidFill>
                  <a:srgbClr val="64648A"/>
                </a:solidFill>
                <a:latin typeface="Arial"/>
              </a:rPr>
              <a:t>Custom training, LoRA, domain adaptation, and the eval harness that proves it improved.</a:t>
            </a:r>
          </a:p>
        </p:txBody>
      </p:sp>
      <p:sp>
        <p:nvSpPr>
          <p:cNvPr id="12" name="Rounded Rectangle 11"/>
          <p:cNvSpPr/>
          <p:nvPr/>
        </p:nvSpPr>
        <p:spPr>
          <a:xfrm>
            <a:off x="8939212" y="20383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3" name="TextBox 12"/>
          <p:cNvSpPr txBox="1"/>
          <p:nvPr/>
        </p:nvSpPr>
        <p:spPr>
          <a:xfrm>
            <a:off x="9129712" y="22193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AI agents &amp; automation</a:t>
            </a:r>
          </a:p>
          <a:p>
            <a:pPr>
              <a:lnSpc>
                <a:spcPct val="150000"/>
              </a:lnSpc>
            </a:pPr>
            <a:r>
              <a:rPr sz="930" b="0">
                <a:solidFill>
                  <a:srgbClr val="64648A"/>
                </a:solidFill>
                <a:latin typeface="Arial"/>
              </a:rPr>
              <a:t>Tool-using agents that complete multi-step workflows, with guardrails and human checkpoints.</a:t>
            </a:r>
          </a:p>
        </p:txBody>
      </p:sp>
      <p:sp>
        <p:nvSpPr>
          <p:cNvPr id="14" name="Rounded Rectangle 13"/>
          <p:cNvSpPr/>
          <p:nvPr/>
        </p:nvSpPr>
        <p:spPr>
          <a:xfrm>
            <a:off x="609600"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5" name="TextBox 14"/>
          <p:cNvSpPr txBox="1"/>
          <p:nvPr/>
        </p:nvSpPr>
        <p:spPr>
          <a:xfrm>
            <a:off x="800100"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Computer vision</a:t>
            </a:r>
          </a:p>
          <a:p>
            <a:pPr>
              <a:lnSpc>
                <a:spcPct val="150000"/>
              </a:lnSpc>
            </a:pPr>
            <a:r>
              <a:rPr sz="930" b="0">
                <a:solidFill>
                  <a:srgbClr val="64648A"/>
                </a:solidFill>
                <a:latin typeface="Arial"/>
              </a:rPr>
              <a:t>Detection, segmentation and thermal analysis — cloud pipelines or constrained edge devices.</a:t>
            </a:r>
          </a:p>
        </p:txBody>
      </p:sp>
      <p:sp>
        <p:nvSpPr>
          <p:cNvPr id="16" name="Rounded Rectangle 15"/>
          <p:cNvSpPr/>
          <p:nvPr/>
        </p:nvSpPr>
        <p:spPr>
          <a:xfrm>
            <a:off x="3386138"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7" name="TextBox 16"/>
          <p:cNvSpPr txBox="1"/>
          <p:nvPr/>
        </p:nvSpPr>
        <p:spPr>
          <a:xfrm>
            <a:off x="3576638"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Data pipelines &amp; platform</a:t>
            </a:r>
          </a:p>
          <a:p>
            <a:pPr>
              <a:lnSpc>
                <a:spcPct val="150000"/>
              </a:lnSpc>
            </a:pPr>
            <a:r>
              <a:rPr sz="930" b="0">
                <a:solidFill>
                  <a:srgbClr val="64648A"/>
                </a:solidFill>
                <a:latin typeface="Arial"/>
              </a:rPr>
              <a:t>Ingestion, ETL, geospatial and time-series stores, and the infrastructure underneath.</a:t>
            </a:r>
          </a:p>
        </p:txBody>
      </p:sp>
      <p:sp>
        <p:nvSpPr>
          <p:cNvPr id="18" name="Rounded Rectangle 17"/>
          <p:cNvSpPr/>
          <p:nvPr/>
        </p:nvSpPr>
        <p:spPr>
          <a:xfrm>
            <a:off x="6162675"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19" name="TextBox 18"/>
          <p:cNvSpPr txBox="1"/>
          <p:nvPr/>
        </p:nvSpPr>
        <p:spPr>
          <a:xfrm>
            <a:off x="6353175"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MLOps &amp; production</a:t>
            </a:r>
          </a:p>
          <a:p>
            <a:pPr>
              <a:lnSpc>
                <a:spcPct val="150000"/>
              </a:lnSpc>
            </a:pPr>
            <a:r>
              <a:rPr sz="930" b="0">
                <a:solidFill>
                  <a:srgbClr val="64648A"/>
                </a:solidFill>
                <a:latin typeface="Arial"/>
              </a:rPr>
              <a:t>Serving, monitoring, drift detection, retraining loops, CI/CD and cost control.</a:t>
            </a:r>
          </a:p>
        </p:txBody>
      </p:sp>
      <p:sp>
        <p:nvSpPr>
          <p:cNvPr id="20" name="Rounded Rectangle 19"/>
          <p:cNvSpPr/>
          <p:nvPr/>
        </p:nvSpPr>
        <p:spPr>
          <a:xfrm>
            <a:off x="8939212" y="4362450"/>
            <a:ext cx="2643188" cy="2190750"/>
          </a:xfrm>
          <a:prstGeom prst="roundRect">
            <a:avLst>
              <a:gd name="adj" fmla="val 5652"/>
            </a:avLst>
          </a:prstGeom>
          <a:solidFill>
            <a:srgbClr val="FFFFFF"/>
          </a:solidFill>
          <a:ln w="13970">
            <a:solidFill>
              <a:srgbClr val="E0E0EC"/>
            </a:solidFill>
          </a:ln>
          <a:effectLst/>
        </p:spPr>
        <p:txBody>
          <a:bodyPr rtlCol="0" anchor="ctr" wrap="square"/>
          <a:lstStyle/>
          <a:p>
            <a:pPr algn="ctr"/>
          </a:p>
        </p:txBody>
      </p:sp>
      <p:sp>
        <p:nvSpPr>
          <p:cNvPr id="21" name="TextBox 20"/>
          <p:cNvSpPr txBox="1"/>
          <p:nvPr/>
        </p:nvSpPr>
        <p:spPr>
          <a:xfrm>
            <a:off x="9129712" y="4543425"/>
            <a:ext cx="2262188" cy="186690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Web &amp; mobile product</a:t>
            </a:r>
          </a:p>
          <a:p>
            <a:pPr>
              <a:lnSpc>
                <a:spcPct val="150000"/>
              </a:lnSpc>
            </a:pPr>
            <a:r>
              <a:rPr sz="930" b="0">
                <a:solidFill>
                  <a:srgbClr val="64648A"/>
                </a:solidFill>
                <a:latin typeface="Arial"/>
              </a:rPr>
              <a:t>Full product engineering — Next.js and React web, React Native and Expo mobile, APIs and admin tooling.</a:t>
            </a:r>
          </a:p>
        </p:txBody>
      </p:sp>
      <p:sp>
        <p:nvSpPr>
          <p:cNvPr id="22" name="TextBox 21"/>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3" name="TextBox 22"/>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10</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ArtSync India — services &amp; support</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Your partner in digital excellence: software development, data intelligence and dependable IT support, delivered at scale from six hubs across India.</a:t>
            </a:r>
          </a:p>
        </p:txBody>
      </p:sp>
      <p:sp>
        <p:nvSpPr>
          <p:cNvPr id="6" name="Rounded Rectangle 5"/>
          <p:cNvSpPr/>
          <p:nvPr/>
        </p:nvSpPr>
        <p:spPr>
          <a:xfrm>
            <a:off x="609600" y="2381250"/>
            <a:ext cx="3568700" cy="1714500"/>
          </a:xfrm>
          <a:prstGeom prst="roundRect">
            <a:avLst>
              <a:gd name="adj" fmla="val 7222"/>
            </a:avLst>
          </a:prstGeom>
          <a:solidFill>
            <a:srgbClr val="FFFFFF"/>
          </a:solidFill>
          <a:ln w="13970">
            <a:solidFill>
              <a:srgbClr val="E0E0EC"/>
            </a:solidFill>
          </a:ln>
          <a:effectLst/>
        </p:spPr>
        <p:txBody>
          <a:bodyPr rtlCol="0" anchor="ctr" wrap="square"/>
          <a:lstStyle/>
          <a:p>
            <a:pPr algn="ctr"/>
          </a:p>
        </p:txBody>
      </p:sp>
      <p:sp>
        <p:nvSpPr>
          <p:cNvPr id="7" name="TextBox 6"/>
          <p:cNvSpPr txBox="1"/>
          <p:nvPr/>
        </p:nvSpPr>
        <p:spPr>
          <a:xfrm>
            <a:off x="800100" y="2562225"/>
            <a:ext cx="3187700" cy="139065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Custom software development</a:t>
            </a:r>
          </a:p>
          <a:p>
            <a:pPr>
              <a:lnSpc>
                <a:spcPct val="150000"/>
              </a:lnSpc>
            </a:pPr>
            <a:r>
              <a:rPr sz="930" b="0">
                <a:solidFill>
                  <a:srgbClr val="64648A"/>
                </a:solidFill>
                <a:latin typeface="Arial"/>
              </a:rPr>
              <a:t>Web applications, enterprise systems and internal tools, built and maintained by dedicated teams.</a:t>
            </a:r>
          </a:p>
        </p:txBody>
      </p:sp>
      <p:sp>
        <p:nvSpPr>
          <p:cNvPr id="8" name="Rounded Rectangle 7"/>
          <p:cNvSpPr/>
          <p:nvPr/>
        </p:nvSpPr>
        <p:spPr>
          <a:xfrm>
            <a:off x="4311650" y="2381250"/>
            <a:ext cx="3568700" cy="1714500"/>
          </a:xfrm>
          <a:prstGeom prst="roundRect">
            <a:avLst>
              <a:gd name="adj" fmla="val 7222"/>
            </a:avLst>
          </a:prstGeom>
          <a:solidFill>
            <a:srgbClr val="FFFFFF"/>
          </a:solidFill>
          <a:ln w="13970">
            <a:solidFill>
              <a:srgbClr val="E0E0EC"/>
            </a:solidFill>
          </a:ln>
          <a:effectLst/>
        </p:spPr>
        <p:txBody>
          <a:bodyPr rtlCol="0" anchor="ctr" wrap="square"/>
          <a:lstStyle/>
          <a:p>
            <a:pPr algn="ctr"/>
          </a:p>
        </p:txBody>
      </p:sp>
      <p:sp>
        <p:nvSpPr>
          <p:cNvPr id="9" name="TextBox 8"/>
          <p:cNvSpPr txBox="1"/>
          <p:nvPr/>
        </p:nvSpPr>
        <p:spPr>
          <a:xfrm>
            <a:off x="4502150" y="2562225"/>
            <a:ext cx="3187700" cy="139065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Enterprise solutions &amp; integration</a:t>
            </a:r>
          </a:p>
          <a:p>
            <a:pPr>
              <a:lnSpc>
                <a:spcPct val="150000"/>
              </a:lnSpc>
            </a:pPr>
            <a:r>
              <a:rPr sz="930" b="0">
                <a:solidFill>
                  <a:srgbClr val="64648A"/>
                </a:solidFill>
                <a:latin typeface="Arial"/>
              </a:rPr>
              <a:t>ERP, CRM and line-of-business integration; APIs and middleware between systems that were never designed to talk.</a:t>
            </a:r>
          </a:p>
        </p:txBody>
      </p:sp>
      <p:sp>
        <p:nvSpPr>
          <p:cNvPr id="10" name="Rounded Rectangle 9"/>
          <p:cNvSpPr/>
          <p:nvPr/>
        </p:nvSpPr>
        <p:spPr>
          <a:xfrm>
            <a:off x="8013700" y="2381250"/>
            <a:ext cx="3568700" cy="1714500"/>
          </a:xfrm>
          <a:prstGeom prst="roundRect">
            <a:avLst>
              <a:gd name="adj" fmla="val 7222"/>
            </a:avLst>
          </a:prstGeom>
          <a:solidFill>
            <a:srgbClr val="FFFFFF"/>
          </a:solidFill>
          <a:ln w="13970">
            <a:solidFill>
              <a:srgbClr val="E0E0EC"/>
            </a:solidFill>
          </a:ln>
          <a:effectLst/>
        </p:spPr>
        <p:txBody>
          <a:bodyPr rtlCol="0" anchor="ctr" wrap="square"/>
          <a:lstStyle/>
          <a:p>
            <a:pPr algn="ctr"/>
          </a:p>
        </p:txBody>
      </p:sp>
      <p:sp>
        <p:nvSpPr>
          <p:cNvPr id="11" name="TextBox 10"/>
          <p:cNvSpPr txBox="1"/>
          <p:nvPr/>
        </p:nvSpPr>
        <p:spPr>
          <a:xfrm>
            <a:off x="8204200" y="2562225"/>
            <a:ext cx="3187700" cy="139065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Data intelligence &amp; engineering</a:t>
            </a:r>
          </a:p>
          <a:p>
            <a:pPr>
              <a:lnSpc>
                <a:spcPct val="150000"/>
              </a:lnSpc>
            </a:pPr>
            <a:r>
              <a:rPr sz="930" b="0">
                <a:solidFill>
                  <a:srgbClr val="64648A"/>
                </a:solidFill>
                <a:latin typeface="Arial"/>
              </a:rPr>
              <a:t>Data cleaning, transformation, migration and warehousing — turning messy source data into something models can use.</a:t>
            </a:r>
          </a:p>
        </p:txBody>
      </p:sp>
      <p:sp>
        <p:nvSpPr>
          <p:cNvPr id="12" name="Rounded Rectangle 11"/>
          <p:cNvSpPr/>
          <p:nvPr/>
        </p:nvSpPr>
        <p:spPr>
          <a:xfrm>
            <a:off x="609600" y="4229100"/>
            <a:ext cx="3568700" cy="1714500"/>
          </a:xfrm>
          <a:prstGeom prst="roundRect">
            <a:avLst>
              <a:gd name="adj" fmla="val 7222"/>
            </a:avLst>
          </a:prstGeom>
          <a:solidFill>
            <a:srgbClr val="FFFFFF"/>
          </a:solidFill>
          <a:ln w="13970">
            <a:solidFill>
              <a:srgbClr val="E0E0EC"/>
            </a:solidFill>
          </a:ln>
          <a:effectLst/>
        </p:spPr>
        <p:txBody>
          <a:bodyPr rtlCol="0" anchor="ctr" wrap="square"/>
          <a:lstStyle/>
          <a:p>
            <a:pPr algn="ctr"/>
          </a:p>
        </p:txBody>
      </p:sp>
      <p:sp>
        <p:nvSpPr>
          <p:cNvPr id="13" name="TextBox 12"/>
          <p:cNvSpPr txBox="1"/>
          <p:nvPr/>
        </p:nvSpPr>
        <p:spPr>
          <a:xfrm>
            <a:off x="800100" y="4410075"/>
            <a:ext cx="3187700" cy="139065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Data annotation at scale</a:t>
            </a:r>
          </a:p>
          <a:p>
            <a:pPr>
              <a:lnSpc>
                <a:spcPct val="150000"/>
              </a:lnSpc>
            </a:pPr>
            <a:r>
              <a:rPr sz="930" b="0">
                <a:solidFill>
                  <a:srgbClr val="64648A"/>
                </a:solidFill>
                <a:latin typeface="Arial"/>
              </a:rPr>
              <a:t>Image, video, text and multimodal labeling with human-in-the-loop QA and ontology governance.</a:t>
            </a:r>
          </a:p>
        </p:txBody>
      </p:sp>
      <p:sp>
        <p:nvSpPr>
          <p:cNvPr id="14" name="Rounded Rectangle 13"/>
          <p:cNvSpPr/>
          <p:nvPr/>
        </p:nvSpPr>
        <p:spPr>
          <a:xfrm>
            <a:off x="4311650" y="4229100"/>
            <a:ext cx="3568700" cy="1714500"/>
          </a:xfrm>
          <a:prstGeom prst="roundRect">
            <a:avLst>
              <a:gd name="adj" fmla="val 7222"/>
            </a:avLst>
          </a:prstGeom>
          <a:solidFill>
            <a:srgbClr val="FFFFFF"/>
          </a:solidFill>
          <a:ln w="13970">
            <a:solidFill>
              <a:srgbClr val="E0E0EC"/>
            </a:solidFill>
          </a:ln>
          <a:effectLst/>
        </p:spPr>
        <p:txBody>
          <a:bodyPr rtlCol="0" anchor="ctr" wrap="square"/>
          <a:lstStyle/>
          <a:p>
            <a:pPr algn="ctr"/>
          </a:p>
        </p:txBody>
      </p:sp>
      <p:sp>
        <p:nvSpPr>
          <p:cNvPr id="15" name="TextBox 14"/>
          <p:cNvSpPr txBox="1"/>
          <p:nvPr/>
        </p:nvSpPr>
        <p:spPr>
          <a:xfrm>
            <a:off x="4502150" y="4410075"/>
            <a:ext cx="3187700" cy="139065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Data entry &amp; back-office operations</a:t>
            </a:r>
          </a:p>
          <a:p>
            <a:pPr>
              <a:lnSpc>
                <a:spcPct val="150000"/>
              </a:lnSpc>
            </a:pPr>
            <a:r>
              <a:rPr sz="930" b="0">
                <a:solidFill>
                  <a:srgbClr val="64648A"/>
                </a:solidFill>
                <a:latin typeface="Arial"/>
              </a:rPr>
              <a:t>High-volume, accuracy-critical processing with defined SLAs and quality sampling.</a:t>
            </a:r>
          </a:p>
        </p:txBody>
      </p:sp>
      <p:sp>
        <p:nvSpPr>
          <p:cNvPr id="16" name="Rounded Rectangle 15"/>
          <p:cNvSpPr/>
          <p:nvPr/>
        </p:nvSpPr>
        <p:spPr>
          <a:xfrm>
            <a:off x="8013700" y="4229100"/>
            <a:ext cx="3568700" cy="1714500"/>
          </a:xfrm>
          <a:prstGeom prst="roundRect">
            <a:avLst>
              <a:gd name="adj" fmla="val 7222"/>
            </a:avLst>
          </a:prstGeom>
          <a:solidFill>
            <a:srgbClr val="FFFFFF"/>
          </a:solidFill>
          <a:ln w="13970">
            <a:solidFill>
              <a:srgbClr val="E0E0EC"/>
            </a:solidFill>
          </a:ln>
          <a:effectLst/>
        </p:spPr>
        <p:txBody>
          <a:bodyPr rtlCol="0" anchor="ctr" wrap="square"/>
          <a:lstStyle/>
          <a:p>
            <a:pPr algn="ctr"/>
          </a:p>
        </p:txBody>
      </p:sp>
      <p:sp>
        <p:nvSpPr>
          <p:cNvPr id="17" name="TextBox 16"/>
          <p:cNvSpPr txBox="1"/>
          <p:nvPr/>
        </p:nvSpPr>
        <p:spPr>
          <a:xfrm>
            <a:off x="8204200" y="4410075"/>
            <a:ext cx="3187700" cy="1390650"/>
          </a:xfrm>
          <a:prstGeom prst="rect">
            <a:avLst/>
          </a:prstGeom>
          <a:noFill/>
        </p:spPr>
        <p:txBody>
          <a:bodyPr wrap="square" lIns="0" rIns="0" tIns="0" bIns="0" anchor="t">
            <a:spAutoFit/>
          </a:bodyPr>
          <a:lstStyle/>
          <a:p>
            <a:pPr>
              <a:lnSpc>
                <a:spcPct val="120000"/>
              </a:lnSpc>
              <a:spcAft>
                <a:spcPts val="525"/>
              </a:spcAft>
            </a:pPr>
            <a:r>
              <a:rPr sz="1162" b="1">
                <a:solidFill>
                  <a:srgbClr val="0A0A1A"/>
                </a:solidFill>
                <a:latin typeface="Arial"/>
              </a:rPr>
              <a:t>IT support &amp; managed services</a:t>
            </a:r>
          </a:p>
          <a:p>
            <a:pPr>
              <a:lnSpc>
                <a:spcPct val="150000"/>
              </a:lnSpc>
            </a:pPr>
            <a:r>
              <a:rPr sz="930" b="0">
                <a:solidFill>
                  <a:srgbClr val="64648A"/>
                </a:solidFill>
                <a:latin typeface="Arial"/>
              </a:rPr>
              <a:t>Helpdesk, infrastructure monitoring, patching and maintenance — day-to-day operational cover.</a:t>
            </a:r>
          </a:p>
        </p:txBody>
      </p:sp>
      <p:sp>
        <p:nvSpPr>
          <p:cNvPr id="18" name="TextBox 17"/>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9" name="TextBox 18"/>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11</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Specialisation — data annotation for physical AI</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A core group specialisation: high-quality video and multimodal annotation for computer-vision and Vision-Language-Action systems.</a:t>
            </a:r>
          </a:p>
        </p:txBody>
      </p:sp>
      <p:sp>
        <p:nvSpPr>
          <p:cNvPr id="6" name="TextBox 5"/>
          <p:cNvSpPr txBox="1"/>
          <p:nvPr/>
        </p:nvSpPr>
        <p:spPr>
          <a:xfrm>
            <a:off x="609600" y="2152650"/>
            <a:ext cx="9525000" cy="762000"/>
          </a:xfrm>
          <a:prstGeom prst="rect">
            <a:avLst/>
          </a:prstGeom>
          <a:noFill/>
        </p:spPr>
        <p:txBody>
          <a:bodyPr wrap="square" lIns="0" rIns="0" tIns="0" bIns="0" anchor="t">
            <a:spAutoFit/>
          </a:bodyPr>
          <a:lstStyle/>
          <a:p>
            <a:pPr>
              <a:lnSpc>
                <a:spcPct val="155000"/>
              </a:lnSpc>
            </a:pPr>
            <a:r>
              <a:rPr sz="1005" b="0">
                <a:solidFill>
                  <a:srgbClr val="3A3A5C"/>
                </a:solidFill>
                <a:latin typeface="Arial"/>
              </a:rPr>
              <a:t>Robotics and physical-AI teams are bottlenecked on demonstration data, not on model architecture. We deliver frame-accurate temporal segmentation, keypoint and object-interaction labeling, multi-view clip decomposition, and ontology-driven consistency across large demonstration datasets — backed by in-house ML teams, so datasets arrive clean, structured and training-ready rather than as a pile of raw labels someone else has to fix.</a:t>
            </a:r>
          </a:p>
        </p:txBody>
      </p:sp>
      <p:sp>
        <p:nvSpPr>
          <p:cNvPr id="7" name="TextBox 6"/>
          <p:cNvSpPr txBox="1"/>
          <p:nvPr/>
        </p:nvSpPr>
        <p:spPr>
          <a:xfrm>
            <a:off x="609600" y="2993803"/>
            <a:ext cx="5334000" cy="190500"/>
          </a:xfrm>
          <a:prstGeom prst="rect">
            <a:avLst/>
          </a:prstGeom>
          <a:noFill/>
        </p:spPr>
        <p:txBody>
          <a:bodyPr wrap="square" lIns="0" rIns="0" tIns="0" bIns="0" anchor="t">
            <a:spAutoFit/>
          </a:bodyPr>
          <a:lstStyle/>
          <a:p>
            <a:pPr>
              <a:lnSpc>
                <a:spcPct val="135000"/>
              </a:lnSpc>
            </a:pPr>
            <a:r>
              <a:rPr sz="975" b="1">
                <a:solidFill>
                  <a:srgbClr val="0A0A1A"/>
                </a:solidFill>
                <a:latin typeface="Arial"/>
              </a:rPr>
              <a:t>Frame-accurate temporal segmentation</a:t>
            </a:r>
          </a:p>
        </p:txBody>
      </p:sp>
      <p:sp>
        <p:nvSpPr>
          <p:cNvPr id="8" name="TextBox 7"/>
          <p:cNvSpPr txBox="1"/>
          <p:nvPr/>
        </p:nvSpPr>
        <p:spPr>
          <a:xfrm>
            <a:off x="609600" y="3203353"/>
            <a:ext cx="5334000" cy="323850"/>
          </a:xfrm>
          <a:prstGeom prst="rect">
            <a:avLst/>
          </a:prstGeom>
          <a:noFill/>
        </p:spPr>
        <p:txBody>
          <a:bodyPr wrap="square" lIns="0" rIns="0" tIns="0" bIns="0" anchor="t">
            <a:spAutoFit/>
          </a:bodyPr>
          <a:lstStyle/>
          <a:p>
            <a:pPr>
              <a:lnSpc>
                <a:spcPct val="140000"/>
              </a:lnSpc>
            </a:pPr>
            <a:r>
              <a:rPr sz="862" b="0">
                <a:solidFill>
                  <a:srgbClr val="64648A"/>
                </a:solidFill>
                <a:latin typeface="Arial"/>
              </a:rPr>
              <a:t>Action boundaries labelled to the frame, not the second.</a:t>
            </a:r>
          </a:p>
        </p:txBody>
      </p:sp>
      <p:sp>
        <p:nvSpPr>
          <p:cNvPr id="9" name="TextBox 8"/>
          <p:cNvSpPr txBox="1"/>
          <p:nvPr/>
        </p:nvSpPr>
        <p:spPr>
          <a:xfrm>
            <a:off x="6210300" y="2993803"/>
            <a:ext cx="5334000" cy="190500"/>
          </a:xfrm>
          <a:prstGeom prst="rect">
            <a:avLst/>
          </a:prstGeom>
          <a:noFill/>
        </p:spPr>
        <p:txBody>
          <a:bodyPr wrap="square" lIns="0" rIns="0" tIns="0" bIns="0" anchor="t">
            <a:spAutoFit/>
          </a:bodyPr>
          <a:lstStyle/>
          <a:p>
            <a:pPr>
              <a:lnSpc>
                <a:spcPct val="135000"/>
              </a:lnSpc>
            </a:pPr>
            <a:r>
              <a:rPr sz="975" b="1">
                <a:solidFill>
                  <a:srgbClr val="0A0A1A"/>
                </a:solidFill>
                <a:latin typeface="Arial"/>
              </a:rPr>
              <a:t>Keypoint &amp; object interaction</a:t>
            </a:r>
          </a:p>
        </p:txBody>
      </p:sp>
      <p:sp>
        <p:nvSpPr>
          <p:cNvPr id="10" name="TextBox 9"/>
          <p:cNvSpPr txBox="1"/>
          <p:nvPr/>
        </p:nvSpPr>
        <p:spPr>
          <a:xfrm>
            <a:off x="6210300" y="3203353"/>
            <a:ext cx="5334000" cy="323850"/>
          </a:xfrm>
          <a:prstGeom prst="rect">
            <a:avLst/>
          </a:prstGeom>
          <a:noFill/>
        </p:spPr>
        <p:txBody>
          <a:bodyPr wrap="square" lIns="0" rIns="0" tIns="0" bIns="0" anchor="t">
            <a:spAutoFit/>
          </a:bodyPr>
          <a:lstStyle/>
          <a:p>
            <a:pPr>
              <a:lnSpc>
                <a:spcPct val="140000"/>
              </a:lnSpc>
            </a:pPr>
            <a:r>
              <a:rPr sz="862" b="0">
                <a:solidFill>
                  <a:srgbClr val="64648A"/>
                </a:solidFill>
                <a:latin typeface="Arial"/>
              </a:rPr>
              <a:t>Grasp points, contact events and manipulation states across the clip.</a:t>
            </a:r>
          </a:p>
        </p:txBody>
      </p:sp>
      <p:sp>
        <p:nvSpPr>
          <p:cNvPr id="11" name="TextBox 10"/>
          <p:cNvSpPr txBox="1"/>
          <p:nvPr/>
        </p:nvSpPr>
        <p:spPr>
          <a:xfrm>
            <a:off x="609600" y="3717703"/>
            <a:ext cx="5334000" cy="190500"/>
          </a:xfrm>
          <a:prstGeom prst="rect">
            <a:avLst/>
          </a:prstGeom>
          <a:noFill/>
        </p:spPr>
        <p:txBody>
          <a:bodyPr wrap="square" lIns="0" rIns="0" tIns="0" bIns="0" anchor="t">
            <a:spAutoFit/>
          </a:bodyPr>
          <a:lstStyle/>
          <a:p>
            <a:pPr>
              <a:lnSpc>
                <a:spcPct val="135000"/>
              </a:lnSpc>
            </a:pPr>
            <a:r>
              <a:rPr sz="975" b="1">
                <a:solidFill>
                  <a:srgbClr val="0A0A1A"/>
                </a:solidFill>
                <a:latin typeface="Arial"/>
              </a:rPr>
              <a:t>Multi-view decomposition</a:t>
            </a:r>
          </a:p>
        </p:txBody>
      </p:sp>
      <p:sp>
        <p:nvSpPr>
          <p:cNvPr id="12" name="TextBox 11"/>
          <p:cNvSpPr txBox="1"/>
          <p:nvPr/>
        </p:nvSpPr>
        <p:spPr>
          <a:xfrm>
            <a:off x="609600" y="3927253"/>
            <a:ext cx="5334000" cy="323850"/>
          </a:xfrm>
          <a:prstGeom prst="rect">
            <a:avLst/>
          </a:prstGeom>
          <a:noFill/>
        </p:spPr>
        <p:txBody>
          <a:bodyPr wrap="square" lIns="0" rIns="0" tIns="0" bIns="0" anchor="t">
            <a:spAutoFit/>
          </a:bodyPr>
          <a:lstStyle/>
          <a:p>
            <a:pPr>
              <a:lnSpc>
                <a:spcPct val="140000"/>
              </a:lnSpc>
            </a:pPr>
            <a:r>
              <a:rPr sz="862" b="0">
                <a:solidFill>
                  <a:srgbClr val="64648A"/>
                </a:solidFill>
                <a:latin typeface="Arial"/>
              </a:rPr>
              <a:t>Synchronised labeling across camera rigs for the same demonstration.</a:t>
            </a:r>
          </a:p>
        </p:txBody>
      </p:sp>
      <p:sp>
        <p:nvSpPr>
          <p:cNvPr id="13" name="TextBox 12"/>
          <p:cNvSpPr txBox="1"/>
          <p:nvPr/>
        </p:nvSpPr>
        <p:spPr>
          <a:xfrm>
            <a:off x="6210300" y="3717703"/>
            <a:ext cx="5334000" cy="190500"/>
          </a:xfrm>
          <a:prstGeom prst="rect">
            <a:avLst/>
          </a:prstGeom>
          <a:noFill/>
        </p:spPr>
        <p:txBody>
          <a:bodyPr wrap="square" lIns="0" rIns="0" tIns="0" bIns="0" anchor="t">
            <a:spAutoFit/>
          </a:bodyPr>
          <a:lstStyle/>
          <a:p>
            <a:pPr>
              <a:lnSpc>
                <a:spcPct val="135000"/>
              </a:lnSpc>
            </a:pPr>
            <a:r>
              <a:rPr sz="975" b="1">
                <a:solidFill>
                  <a:srgbClr val="0A0A1A"/>
                </a:solidFill>
                <a:latin typeface="Arial"/>
              </a:rPr>
              <a:t>Ontology governance</a:t>
            </a:r>
          </a:p>
        </p:txBody>
      </p:sp>
      <p:sp>
        <p:nvSpPr>
          <p:cNvPr id="14" name="TextBox 13"/>
          <p:cNvSpPr txBox="1"/>
          <p:nvPr/>
        </p:nvSpPr>
        <p:spPr>
          <a:xfrm>
            <a:off x="6210300" y="3927253"/>
            <a:ext cx="5334000" cy="323850"/>
          </a:xfrm>
          <a:prstGeom prst="rect">
            <a:avLst/>
          </a:prstGeom>
          <a:noFill/>
        </p:spPr>
        <p:txBody>
          <a:bodyPr wrap="square" lIns="0" rIns="0" tIns="0" bIns="0" anchor="t">
            <a:spAutoFit/>
          </a:bodyPr>
          <a:lstStyle/>
          <a:p>
            <a:pPr>
              <a:lnSpc>
                <a:spcPct val="140000"/>
              </a:lnSpc>
            </a:pPr>
            <a:r>
              <a:rPr sz="862" b="0">
                <a:solidFill>
                  <a:srgbClr val="64648A"/>
                </a:solidFill>
                <a:latin typeface="Arial"/>
              </a:rPr>
              <a:t>One label taxonomy, enforced across every annotator and every batch.</a:t>
            </a:r>
          </a:p>
        </p:txBody>
      </p:sp>
      <p:sp>
        <p:nvSpPr>
          <p:cNvPr id="15" name="TextBox 14"/>
          <p:cNvSpPr txBox="1"/>
          <p:nvPr/>
        </p:nvSpPr>
        <p:spPr>
          <a:xfrm>
            <a:off x="609600" y="4441603"/>
            <a:ext cx="5334000" cy="190500"/>
          </a:xfrm>
          <a:prstGeom prst="rect">
            <a:avLst/>
          </a:prstGeom>
          <a:noFill/>
        </p:spPr>
        <p:txBody>
          <a:bodyPr wrap="square" lIns="0" rIns="0" tIns="0" bIns="0" anchor="t">
            <a:spAutoFit/>
          </a:bodyPr>
          <a:lstStyle/>
          <a:p>
            <a:pPr>
              <a:lnSpc>
                <a:spcPct val="135000"/>
              </a:lnSpc>
            </a:pPr>
            <a:r>
              <a:rPr sz="975" b="1">
                <a:solidFill>
                  <a:srgbClr val="0A0A1A"/>
                </a:solidFill>
                <a:latin typeface="Arial"/>
              </a:rPr>
              <a:t>Human-in-the-loop QA</a:t>
            </a:r>
          </a:p>
        </p:txBody>
      </p:sp>
      <p:sp>
        <p:nvSpPr>
          <p:cNvPr id="16" name="TextBox 15"/>
          <p:cNvSpPr txBox="1"/>
          <p:nvPr/>
        </p:nvSpPr>
        <p:spPr>
          <a:xfrm>
            <a:off x="609600" y="4651153"/>
            <a:ext cx="5334000" cy="323850"/>
          </a:xfrm>
          <a:prstGeom prst="rect">
            <a:avLst/>
          </a:prstGeom>
          <a:noFill/>
        </p:spPr>
        <p:txBody>
          <a:bodyPr wrap="square" lIns="0" rIns="0" tIns="0" bIns="0" anchor="t">
            <a:spAutoFit/>
          </a:bodyPr>
          <a:lstStyle/>
          <a:p>
            <a:pPr>
              <a:lnSpc>
                <a:spcPct val="140000"/>
              </a:lnSpc>
            </a:pPr>
            <a:r>
              <a:rPr sz="862" b="0">
                <a:solidFill>
                  <a:srgbClr val="64648A"/>
                </a:solidFill>
                <a:latin typeface="Arial"/>
              </a:rPr>
              <a:t>Sampled review, inter-annotator agreement and correction loops.</a:t>
            </a:r>
          </a:p>
        </p:txBody>
      </p:sp>
      <p:sp>
        <p:nvSpPr>
          <p:cNvPr id="17" name="TextBox 16"/>
          <p:cNvSpPr txBox="1"/>
          <p:nvPr/>
        </p:nvSpPr>
        <p:spPr>
          <a:xfrm>
            <a:off x="6210300" y="4441603"/>
            <a:ext cx="5334000" cy="190500"/>
          </a:xfrm>
          <a:prstGeom prst="rect">
            <a:avLst/>
          </a:prstGeom>
          <a:noFill/>
        </p:spPr>
        <p:txBody>
          <a:bodyPr wrap="square" lIns="0" rIns="0" tIns="0" bIns="0" anchor="t">
            <a:spAutoFit/>
          </a:bodyPr>
          <a:lstStyle/>
          <a:p>
            <a:pPr>
              <a:lnSpc>
                <a:spcPct val="135000"/>
              </a:lnSpc>
            </a:pPr>
            <a:r>
              <a:rPr sz="975" b="1">
                <a:solidFill>
                  <a:srgbClr val="0A0A1A"/>
                </a:solidFill>
                <a:latin typeface="Arial"/>
              </a:rPr>
              <a:t>ML teams in the loop</a:t>
            </a:r>
          </a:p>
        </p:txBody>
      </p:sp>
      <p:sp>
        <p:nvSpPr>
          <p:cNvPr id="18" name="TextBox 17"/>
          <p:cNvSpPr txBox="1"/>
          <p:nvPr/>
        </p:nvSpPr>
        <p:spPr>
          <a:xfrm>
            <a:off x="6210300" y="4651153"/>
            <a:ext cx="5334000" cy="323850"/>
          </a:xfrm>
          <a:prstGeom prst="rect">
            <a:avLst/>
          </a:prstGeom>
          <a:noFill/>
        </p:spPr>
        <p:txBody>
          <a:bodyPr wrap="square" lIns="0" rIns="0" tIns="0" bIns="0" anchor="t">
            <a:spAutoFit/>
          </a:bodyPr>
          <a:lstStyle/>
          <a:p>
            <a:pPr>
              <a:lnSpc>
                <a:spcPct val="140000"/>
              </a:lnSpc>
            </a:pPr>
            <a:r>
              <a:rPr sz="862" b="0">
                <a:solidFill>
                  <a:srgbClr val="64648A"/>
                </a:solidFill>
                <a:latin typeface="Arial"/>
              </a:rPr>
              <a:t>The people labeling the data work alongside the people training on it.</a:t>
            </a:r>
          </a:p>
        </p:txBody>
      </p:sp>
      <p:sp>
        <p:nvSpPr>
          <p:cNvPr id="19" name="Rounded Rectangle 18"/>
          <p:cNvSpPr/>
          <p:nvPr/>
        </p:nvSpPr>
        <p:spPr>
          <a:xfrm>
            <a:off x="609600" y="5241703"/>
            <a:ext cx="426720"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CVAT</a:t>
            </a:r>
          </a:p>
        </p:txBody>
      </p:sp>
      <p:sp>
        <p:nvSpPr>
          <p:cNvPr id="20" name="Rounded Rectangle 19"/>
          <p:cNvSpPr/>
          <p:nvPr/>
        </p:nvSpPr>
        <p:spPr>
          <a:xfrm>
            <a:off x="1112520" y="5241703"/>
            <a:ext cx="662940"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Labelbox</a:t>
            </a:r>
          </a:p>
        </p:txBody>
      </p:sp>
      <p:sp>
        <p:nvSpPr>
          <p:cNvPr id="21" name="Rounded Rectangle 20"/>
          <p:cNvSpPr/>
          <p:nvPr/>
        </p:nvSpPr>
        <p:spPr>
          <a:xfrm>
            <a:off x="1851660" y="5241703"/>
            <a:ext cx="899160"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Label Studio</a:t>
            </a:r>
          </a:p>
        </p:txBody>
      </p:sp>
      <p:sp>
        <p:nvSpPr>
          <p:cNvPr id="22" name="Rounded Rectangle 21"/>
          <p:cNvSpPr/>
          <p:nvPr/>
        </p:nvSpPr>
        <p:spPr>
          <a:xfrm>
            <a:off x="2827020" y="5241703"/>
            <a:ext cx="1430655"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Temporal segmentation</a:t>
            </a:r>
          </a:p>
        </p:txBody>
      </p:sp>
      <p:sp>
        <p:nvSpPr>
          <p:cNvPr id="23" name="Rounded Rectangle 22"/>
          <p:cNvSpPr/>
          <p:nvPr/>
        </p:nvSpPr>
        <p:spPr>
          <a:xfrm>
            <a:off x="4333875" y="5241703"/>
            <a:ext cx="1194435"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Keypoint labeling</a:t>
            </a:r>
          </a:p>
        </p:txBody>
      </p:sp>
      <p:sp>
        <p:nvSpPr>
          <p:cNvPr id="24" name="Rounded Rectangle 23"/>
          <p:cNvSpPr/>
          <p:nvPr/>
        </p:nvSpPr>
        <p:spPr>
          <a:xfrm>
            <a:off x="5604510" y="5241703"/>
            <a:ext cx="603885"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HITL QA</a:t>
            </a:r>
          </a:p>
        </p:txBody>
      </p:sp>
      <p:sp>
        <p:nvSpPr>
          <p:cNvPr id="25" name="Rounded Rectangle 24"/>
          <p:cNvSpPr/>
          <p:nvPr/>
        </p:nvSpPr>
        <p:spPr>
          <a:xfrm>
            <a:off x="6284595" y="5241703"/>
            <a:ext cx="899160" cy="2476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750" b="0">
                <a:solidFill>
                  <a:srgbClr val="7C3AED"/>
                </a:solidFill>
                <a:latin typeface="Courier New"/>
              </a:rPr>
              <a:t>VLA datasets</a:t>
            </a:r>
          </a:p>
        </p:txBody>
      </p:sp>
      <p:sp>
        <p:nvSpPr>
          <p:cNvPr id="26" name="TextBox 25"/>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7" name="TextBox 26"/>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12</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How we deliver</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The same four-stage path on every engagement — from a two-week website to a regulated clinical platform. Only the depth changes.</a:t>
            </a:r>
          </a:p>
        </p:txBody>
      </p:sp>
      <p:sp>
        <p:nvSpPr>
          <p:cNvPr id="6" name="Rounded Rectangle 5"/>
          <p:cNvSpPr/>
          <p:nvPr/>
        </p:nvSpPr>
        <p:spPr>
          <a:xfrm>
            <a:off x="609600" y="2733675"/>
            <a:ext cx="2628900" cy="2857500"/>
          </a:xfrm>
          <a:prstGeom prst="roundRect">
            <a:avLst>
              <a:gd name="adj" fmla="val 5072"/>
            </a:avLst>
          </a:prstGeom>
          <a:solidFill>
            <a:srgbClr val="FBFAFE"/>
          </a:solidFill>
          <a:ln w="13970">
            <a:solidFill>
              <a:srgbClr val="E0E0EC"/>
            </a:solidFill>
          </a:ln>
          <a:effectLst/>
        </p:spPr>
        <p:txBody>
          <a:bodyPr rtlCol="0" anchor="ctr" wrap="square"/>
          <a:lstStyle/>
          <a:p>
            <a:pPr algn="ctr"/>
          </a:p>
        </p:txBody>
      </p:sp>
      <p:sp>
        <p:nvSpPr>
          <p:cNvPr id="7" name="TextBox 6"/>
          <p:cNvSpPr txBox="1"/>
          <p:nvPr/>
        </p:nvSpPr>
        <p:spPr>
          <a:xfrm>
            <a:off x="819150" y="2962275"/>
            <a:ext cx="2209800" cy="323850"/>
          </a:xfrm>
          <a:prstGeom prst="rect">
            <a:avLst/>
          </a:prstGeom>
          <a:noFill/>
        </p:spPr>
        <p:txBody>
          <a:bodyPr wrap="square" lIns="0" rIns="0" tIns="0" bIns="0" anchor="t">
            <a:spAutoFit/>
          </a:bodyPr>
          <a:lstStyle/>
          <a:p>
            <a:pPr>
              <a:lnSpc>
                <a:spcPct val="135000"/>
              </a:lnSpc>
            </a:pPr>
            <a:r>
              <a:rPr sz="1950" b="1">
                <a:solidFill>
                  <a:srgbClr val="C4B5FD"/>
                </a:solidFill>
                <a:latin typeface="Courier New"/>
              </a:rPr>
              <a:t>01</a:t>
            </a:r>
          </a:p>
        </p:txBody>
      </p:sp>
      <p:sp>
        <p:nvSpPr>
          <p:cNvPr id="8" name="TextBox 7"/>
          <p:cNvSpPr txBox="1"/>
          <p:nvPr/>
        </p:nvSpPr>
        <p:spPr>
          <a:xfrm>
            <a:off x="819150" y="3400425"/>
            <a:ext cx="2209800" cy="247650"/>
          </a:xfrm>
          <a:prstGeom prst="rect">
            <a:avLst/>
          </a:prstGeom>
          <a:noFill/>
        </p:spPr>
        <p:txBody>
          <a:bodyPr wrap="square" lIns="0" rIns="0" tIns="0" bIns="0" anchor="t">
            <a:spAutoFit/>
          </a:bodyPr>
          <a:lstStyle/>
          <a:p>
            <a:pPr>
              <a:lnSpc>
                <a:spcPct val="120000"/>
              </a:lnSpc>
            </a:pPr>
            <a:r>
              <a:rPr sz="1200" b="1">
                <a:solidFill>
                  <a:srgbClr val="0A0A1A"/>
                </a:solidFill>
                <a:latin typeface="Arial"/>
              </a:rPr>
              <a:t>Data audit &amp; strategy</a:t>
            </a:r>
          </a:p>
        </p:txBody>
      </p:sp>
      <p:sp>
        <p:nvSpPr>
          <p:cNvPr id="9" name="TextBox 8"/>
          <p:cNvSpPr txBox="1"/>
          <p:nvPr/>
        </p:nvSpPr>
        <p:spPr>
          <a:xfrm>
            <a:off x="819150" y="3724275"/>
            <a:ext cx="2209800" cy="1333500"/>
          </a:xfrm>
          <a:prstGeom prst="rect">
            <a:avLst/>
          </a:prstGeom>
          <a:noFill/>
        </p:spPr>
        <p:txBody>
          <a:bodyPr wrap="square" lIns="0" rIns="0" tIns="0" bIns="0" anchor="t">
            <a:spAutoFit/>
          </a:bodyPr>
          <a:lstStyle/>
          <a:p>
            <a:pPr>
              <a:lnSpc>
                <a:spcPct val="150000"/>
              </a:lnSpc>
            </a:pPr>
            <a:r>
              <a:rPr sz="914" b="0">
                <a:solidFill>
                  <a:srgbClr val="64648A"/>
                </a:solidFill>
                <a:latin typeface="Arial"/>
              </a:rPr>
              <a:t>Audit what you have, structure it, and define an approach tied to a business outcome — not to a model.</a:t>
            </a:r>
          </a:p>
        </p:txBody>
      </p:sp>
      <p:sp>
        <p:nvSpPr>
          <p:cNvPr id="10" name="Rounded Rectangle 9"/>
          <p:cNvSpPr/>
          <p:nvPr/>
        </p:nvSpPr>
        <p:spPr>
          <a:xfrm>
            <a:off x="3390900" y="2733675"/>
            <a:ext cx="2628900" cy="2857500"/>
          </a:xfrm>
          <a:prstGeom prst="roundRect">
            <a:avLst>
              <a:gd name="adj" fmla="val 5072"/>
            </a:avLst>
          </a:prstGeom>
          <a:solidFill>
            <a:srgbClr val="FBFAFE"/>
          </a:solidFill>
          <a:ln w="13970">
            <a:solidFill>
              <a:srgbClr val="E0E0EC"/>
            </a:solidFill>
          </a:ln>
          <a:effectLst/>
        </p:spPr>
        <p:txBody>
          <a:bodyPr rtlCol="0" anchor="ctr" wrap="square"/>
          <a:lstStyle/>
          <a:p>
            <a:pPr algn="ctr"/>
          </a:p>
        </p:txBody>
      </p:sp>
      <p:sp>
        <p:nvSpPr>
          <p:cNvPr id="11" name="TextBox 10"/>
          <p:cNvSpPr txBox="1"/>
          <p:nvPr/>
        </p:nvSpPr>
        <p:spPr>
          <a:xfrm>
            <a:off x="3600450" y="2962275"/>
            <a:ext cx="2209800" cy="323850"/>
          </a:xfrm>
          <a:prstGeom prst="rect">
            <a:avLst/>
          </a:prstGeom>
          <a:noFill/>
        </p:spPr>
        <p:txBody>
          <a:bodyPr wrap="square" lIns="0" rIns="0" tIns="0" bIns="0" anchor="t">
            <a:spAutoFit/>
          </a:bodyPr>
          <a:lstStyle/>
          <a:p>
            <a:pPr>
              <a:lnSpc>
                <a:spcPct val="135000"/>
              </a:lnSpc>
            </a:pPr>
            <a:r>
              <a:rPr sz="1950" b="1">
                <a:solidFill>
                  <a:srgbClr val="C4B5FD"/>
                </a:solidFill>
                <a:latin typeface="Courier New"/>
              </a:rPr>
              <a:t>02</a:t>
            </a:r>
          </a:p>
        </p:txBody>
      </p:sp>
      <p:sp>
        <p:nvSpPr>
          <p:cNvPr id="12" name="TextBox 11"/>
          <p:cNvSpPr txBox="1"/>
          <p:nvPr/>
        </p:nvSpPr>
        <p:spPr>
          <a:xfrm>
            <a:off x="3600450" y="3400425"/>
            <a:ext cx="2209800" cy="247650"/>
          </a:xfrm>
          <a:prstGeom prst="rect">
            <a:avLst/>
          </a:prstGeom>
          <a:noFill/>
        </p:spPr>
        <p:txBody>
          <a:bodyPr wrap="square" lIns="0" rIns="0" tIns="0" bIns="0" anchor="t">
            <a:spAutoFit/>
          </a:bodyPr>
          <a:lstStyle/>
          <a:p>
            <a:pPr>
              <a:lnSpc>
                <a:spcPct val="120000"/>
              </a:lnSpc>
            </a:pPr>
            <a:r>
              <a:rPr sz="1200" b="1">
                <a:solidFill>
                  <a:srgbClr val="0A0A1A"/>
                </a:solidFill>
                <a:latin typeface="Arial"/>
              </a:rPr>
              <a:t>Build &amp; train</a:t>
            </a:r>
          </a:p>
        </p:txBody>
      </p:sp>
      <p:sp>
        <p:nvSpPr>
          <p:cNvPr id="13" name="TextBox 12"/>
          <p:cNvSpPr txBox="1"/>
          <p:nvPr/>
        </p:nvSpPr>
        <p:spPr>
          <a:xfrm>
            <a:off x="3600450" y="3724275"/>
            <a:ext cx="2209800" cy="1333500"/>
          </a:xfrm>
          <a:prstGeom prst="rect">
            <a:avLst/>
          </a:prstGeom>
          <a:noFill/>
        </p:spPr>
        <p:txBody>
          <a:bodyPr wrap="square" lIns="0" rIns="0" tIns="0" bIns="0" anchor="t">
            <a:spAutoFit/>
          </a:bodyPr>
          <a:lstStyle/>
          <a:p>
            <a:pPr>
              <a:lnSpc>
                <a:spcPct val="150000"/>
              </a:lnSpc>
            </a:pPr>
            <a:r>
              <a:rPr sz="914" b="0">
                <a:solidFill>
                  <a:srgbClr val="64648A"/>
                </a:solidFill>
                <a:latin typeface="Arial"/>
              </a:rPr>
              <a:t>Model selection, training, pipeline and application build, with evaluation gates before anything is called done.</a:t>
            </a:r>
          </a:p>
        </p:txBody>
      </p:sp>
      <p:sp>
        <p:nvSpPr>
          <p:cNvPr id="14" name="Rounded Rectangle 13"/>
          <p:cNvSpPr/>
          <p:nvPr/>
        </p:nvSpPr>
        <p:spPr>
          <a:xfrm>
            <a:off x="6172200" y="2733675"/>
            <a:ext cx="2628900" cy="2857500"/>
          </a:xfrm>
          <a:prstGeom prst="roundRect">
            <a:avLst>
              <a:gd name="adj" fmla="val 5072"/>
            </a:avLst>
          </a:prstGeom>
          <a:solidFill>
            <a:srgbClr val="FBFAFE"/>
          </a:solidFill>
          <a:ln w="13970">
            <a:solidFill>
              <a:srgbClr val="E0E0EC"/>
            </a:solidFill>
          </a:ln>
          <a:effectLst/>
        </p:spPr>
        <p:txBody>
          <a:bodyPr rtlCol="0" anchor="ctr" wrap="square"/>
          <a:lstStyle/>
          <a:p>
            <a:pPr algn="ctr"/>
          </a:p>
        </p:txBody>
      </p:sp>
      <p:sp>
        <p:nvSpPr>
          <p:cNvPr id="15" name="TextBox 14"/>
          <p:cNvSpPr txBox="1"/>
          <p:nvPr/>
        </p:nvSpPr>
        <p:spPr>
          <a:xfrm>
            <a:off x="6381750" y="2962275"/>
            <a:ext cx="2209800" cy="323850"/>
          </a:xfrm>
          <a:prstGeom prst="rect">
            <a:avLst/>
          </a:prstGeom>
          <a:noFill/>
        </p:spPr>
        <p:txBody>
          <a:bodyPr wrap="square" lIns="0" rIns="0" tIns="0" bIns="0" anchor="t">
            <a:spAutoFit/>
          </a:bodyPr>
          <a:lstStyle/>
          <a:p>
            <a:pPr>
              <a:lnSpc>
                <a:spcPct val="135000"/>
              </a:lnSpc>
            </a:pPr>
            <a:r>
              <a:rPr sz="1950" b="1">
                <a:solidFill>
                  <a:srgbClr val="C4B5FD"/>
                </a:solidFill>
                <a:latin typeface="Courier New"/>
              </a:rPr>
              <a:t>03</a:t>
            </a:r>
          </a:p>
        </p:txBody>
      </p:sp>
      <p:sp>
        <p:nvSpPr>
          <p:cNvPr id="16" name="TextBox 15"/>
          <p:cNvSpPr txBox="1"/>
          <p:nvPr/>
        </p:nvSpPr>
        <p:spPr>
          <a:xfrm>
            <a:off x="6381750" y="3400425"/>
            <a:ext cx="2209800" cy="247650"/>
          </a:xfrm>
          <a:prstGeom prst="rect">
            <a:avLst/>
          </a:prstGeom>
          <a:noFill/>
        </p:spPr>
        <p:txBody>
          <a:bodyPr wrap="square" lIns="0" rIns="0" tIns="0" bIns="0" anchor="t">
            <a:spAutoFit/>
          </a:bodyPr>
          <a:lstStyle/>
          <a:p>
            <a:pPr>
              <a:lnSpc>
                <a:spcPct val="120000"/>
              </a:lnSpc>
            </a:pPr>
            <a:r>
              <a:rPr sz="1200" b="1">
                <a:solidFill>
                  <a:srgbClr val="0A0A1A"/>
                </a:solidFill>
                <a:latin typeface="Arial"/>
              </a:rPr>
              <a:t>Production deployment</a:t>
            </a:r>
          </a:p>
        </p:txBody>
      </p:sp>
      <p:sp>
        <p:nvSpPr>
          <p:cNvPr id="17" name="TextBox 16"/>
          <p:cNvSpPr txBox="1"/>
          <p:nvPr/>
        </p:nvSpPr>
        <p:spPr>
          <a:xfrm>
            <a:off x="6381750" y="3724275"/>
            <a:ext cx="2209800" cy="1333500"/>
          </a:xfrm>
          <a:prstGeom prst="rect">
            <a:avLst/>
          </a:prstGeom>
          <a:noFill/>
        </p:spPr>
        <p:txBody>
          <a:bodyPr wrap="square" lIns="0" rIns="0" tIns="0" bIns="0" anchor="t">
            <a:spAutoFit/>
          </a:bodyPr>
          <a:lstStyle/>
          <a:p>
            <a:pPr>
              <a:lnSpc>
                <a:spcPct val="150000"/>
              </a:lnSpc>
            </a:pPr>
            <a:r>
              <a:rPr sz="914" b="0">
                <a:solidFill>
                  <a:srgbClr val="64648A"/>
                </a:solidFill>
                <a:latin typeface="Arial"/>
              </a:rPr>
              <a:t>Scalable, monitored delivery to production — infrastructure, CI/CD, security and handover documentation.</a:t>
            </a:r>
          </a:p>
        </p:txBody>
      </p:sp>
      <p:sp>
        <p:nvSpPr>
          <p:cNvPr id="18" name="Rounded Rectangle 17"/>
          <p:cNvSpPr/>
          <p:nvPr/>
        </p:nvSpPr>
        <p:spPr>
          <a:xfrm>
            <a:off x="8953500" y="2733675"/>
            <a:ext cx="2628900" cy="2857500"/>
          </a:xfrm>
          <a:prstGeom prst="roundRect">
            <a:avLst>
              <a:gd name="adj" fmla="val 5072"/>
            </a:avLst>
          </a:prstGeom>
          <a:solidFill>
            <a:srgbClr val="FBFAFE"/>
          </a:solidFill>
          <a:ln w="13970">
            <a:solidFill>
              <a:srgbClr val="E0E0EC"/>
            </a:solidFill>
          </a:ln>
          <a:effectLst/>
        </p:spPr>
        <p:txBody>
          <a:bodyPr rtlCol="0" anchor="ctr" wrap="square"/>
          <a:lstStyle/>
          <a:p>
            <a:pPr algn="ctr"/>
          </a:p>
        </p:txBody>
      </p:sp>
      <p:sp>
        <p:nvSpPr>
          <p:cNvPr id="19" name="TextBox 18"/>
          <p:cNvSpPr txBox="1"/>
          <p:nvPr/>
        </p:nvSpPr>
        <p:spPr>
          <a:xfrm>
            <a:off x="9163050" y="2962275"/>
            <a:ext cx="2209800" cy="323850"/>
          </a:xfrm>
          <a:prstGeom prst="rect">
            <a:avLst/>
          </a:prstGeom>
          <a:noFill/>
        </p:spPr>
        <p:txBody>
          <a:bodyPr wrap="square" lIns="0" rIns="0" tIns="0" bIns="0" anchor="t">
            <a:spAutoFit/>
          </a:bodyPr>
          <a:lstStyle/>
          <a:p>
            <a:pPr>
              <a:lnSpc>
                <a:spcPct val="135000"/>
              </a:lnSpc>
            </a:pPr>
            <a:r>
              <a:rPr sz="1950" b="1">
                <a:solidFill>
                  <a:srgbClr val="C4B5FD"/>
                </a:solidFill>
                <a:latin typeface="Courier New"/>
              </a:rPr>
              <a:t>04</a:t>
            </a:r>
          </a:p>
        </p:txBody>
      </p:sp>
      <p:sp>
        <p:nvSpPr>
          <p:cNvPr id="20" name="TextBox 19"/>
          <p:cNvSpPr txBox="1"/>
          <p:nvPr/>
        </p:nvSpPr>
        <p:spPr>
          <a:xfrm>
            <a:off x="9163050" y="3400425"/>
            <a:ext cx="2209800" cy="247650"/>
          </a:xfrm>
          <a:prstGeom prst="rect">
            <a:avLst/>
          </a:prstGeom>
          <a:noFill/>
        </p:spPr>
        <p:txBody>
          <a:bodyPr wrap="square" lIns="0" rIns="0" tIns="0" bIns="0" anchor="t">
            <a:spAutoFit/>
          </a:bodyPr>
          <a:lstStyle/>
          <a:p>
            <a:pPr>
              <a:lnSpc>
                <a:spcPct val="120000"/>
              </a:lnSpc>
            </a:pPr>
            <a:r>
              <a:rPr sz="1200" b="1">
                <a:solidFill>
                  <a:srgbClr val="0A0A1A"/>
                </a:solidFill>
                <a:latin typeface="Arial"/>
              </a:rPr>
              <a:t>Continuous optimisation</a:t>
            </a:r>
          </a:p>
        </p:txBody>
      </p:sp>
      <p:sp>
        <p:nvSpPr>
          <p:cNvPr id="21" name="TextBox 20"/>
          <p:cNvSpPr txBox="1"/>
          <p:nvPr/>
        </p:nvSpPr>
        <p:spPr>
          <a:xfrm>
            <a:off x="9163050" y="3724275"/>
            <a:ext cx="2209800" cy="1333500"/>
          </a:xfrm>
          <a:prstGeom prst="rect">
            <a:avLst/>
          </a:prstGeom>
          <a:noFill/>
        </p:spPr>
        <p:txBody>
          <a:bodyPr wrap="square" lIns="0" rIns="0" tIns="0" bIns="0" anchor="t">
            <a:spAutoFit/>
          </a:bodyPr>
          <a:lstStyle/>
          <a:p>
            <a:pPr>
              <a:lnSpc>
                <a:spcPct val="150000"/>
              </a:lnSpc>
            </a:pPr>
            <a:r>
              <a:rPr sz="914" b="0">
                <a:solidFill>
                  <a:srgbClr val="64648A"/>
                </a:solidFill>
                <a:latin typeface="Arial"/>
              </a:rPr>
              <a:t>Live telemetry drives retraining, tuning and the next increment of the roadmap.</a:t>
            </a:r>
          </a:p>
        </p:txBody>
      </p:sp>
      <p:sp>
        <p:nvSpPr>
          <p:cNvPr id="22" name="TextBox 21"/>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23" name="TextBox 22"/>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13</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Engagement &amp; ongoing support</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1390650"/>
            <a:ext cx="8572500" cy="438150"/>
          </a:xfrm>
          <a:prstGeom prst="rect">
            <a:avLst/>
          </a:prstGeom>
          <a:noFill/>
        </p:spPr>
        <p:txBody>
          <a:bodyPr wrap="square" lIns="0" rIns="0" tIns="0" bIns="0" anchor="t">
            <a:spAutoFit/>
          </a:bodyPr>
          <a:lstStyle/>
          <a:p>
            <a:pPr>
              <a:lnSpc>
                <a:spcPct val="150000"/>
              </a:lnSpc>
            </a:pPr>
            <a:r>
              <a:rPr sz="1087" b="0">
                <a:solidFill>
                  <a:srgbClr val="64648A"/>
                </a:solidFill>
                <a:latin typeface="Arial"/>
              </a:rPr>
              <a:t>Four ways to work with us, and a support commitment that does not end at launch.</a:t>
            </a:r>
          </a:p>
        </p:txBody>
      </p:sp>
      <p:sp>
        <p:nvSpPr>
          <p:cNvPr id="6" name="TextBox 5"/>
          <p:cNvSpPr txBox="1"/>
          <p:nvPr/>
        </p:nvSpPr>
        <p:spPr>
          <a:xfrm>
            <a:off x="609600" y="2019300"/>
            <a:ext cx="527685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ENGAGEMENT MODELS</a:t>
            </a:r>
          </a:p>
        </p:txBody>
      </p:sp>
      <p:sp>
        <p:nvSpPr>
          <p:cNvPr id="7" name="Rectangle 6"/>
          <p:cNvSpPr/>
          <p:nvPr/>
        </p:nvSpPr>
        <p:spPr>
          <a:xfrm>
            <a:off x="609600" y="2209800"/>
            <a:ext cx="5276850" cy="14288"/>
          </a:xfrm>
          <a:prstGeom prst="rect">
            <a:avLst/>
          </a:prstGeom>
          <a:solidFill>
            <a:srgbClr val="D8CFF8"/>
          </a:solidFill>
          <a:ln>
            <a:noFill/>
          </a:ln>
          <a:effectLst/>
        </p:spPr>
        <p:txBody>
          <a:bodyPr rtlCol="0" anchor="ctr" wrap="square"/>
          <a:lstStyle/>
          <a:p>
            <a:pPr algn="ctr"/>
          </a:p>
        </p:txBody>
      </p:sp>
      <p:sp>
        <p:nvSpPr>
          <p:cNvPr id="8" name="TextBox 7"/>
          <p:cNvSpPr txBox="1"/>
          <p:nvPr/>
        </p:nvSpPr>
        <p:spPr>
          <a:xfrm>
            <a:off x="609600" y="2343150"/>
            <a:ext cx="527685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Fixed-scope project</a:t>
            </a:r>
          </a:p>
        </p:txBody>
      </p:sp>
      <p:sp>
        <p:nvSpPr>
          <p:cNvPr id="9" name="TextBox 8"/>
          <p:cNvSpPr txBox="1"/>
          <p:nvPr/>
        </p:nvSpPr>
        <p:spPr>
          <a:xfrm>
            <a:off x="609600" y="2552700"/>
            <a:ext cx="527685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Defined deliverable, defined price, defined timeline. Best when the outcome is clear.</a:t>
            </a:r>
          </a:p>
        </p:txBody>
      </p:sp>
      <p:sp>
        <p:nvSpPr>
          <p:cNvPr id="10" name="Rectangle 9"/>
          <p:cNvSpPr/>
          <p:nvPr/>
        </p:nvSpPr>
        <p:spPr>
          <a:xfrm>
            <a:off x="609600" y="2825115"/>
            <a:ext cx="5276850" cy="7144"/>
          </a:xfrm>
          <a:prstGeom prst="rect">
            <a:avLst/>
          </a:prstGeom>
          <a:solidFill>
            <a:srgbClr val="F0EFF7"/>
          </a:solidFill>
          <a:ln>
            <a:noFill/>
          </a:ln>
          <a:effectLst/>
        </p:spPr>
        <p:txBody>
          <a:bodyPr rtlCol="0" anchor="ctr" wrap="square"/>
          <a:lstStyle/>
          <a:p>
            <a:pPr algn="ctr"/>
          </a:p>
        </p:txBody>
      </p:sp>
      <p:sp>
        <p:nvSpPr>
          <p:cNvPr id="11" name="TextBox 10"/>
          <p:cNvSpPr txBox="1"/>
          <p:nvPr/>
        </p:nvSpPr>
        <p:spPr>
          <a:xfrm>
            <a:off x="609600" y="2920365"/>
            <a:ext cx="527685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Retained / dedicated team</a:t>
            </a:r>
          </a:p>
        </p:txBody>
      </p:sp>
      <p:sp>
        <p:nvSpPr>
          <p:cNvPr id="12" name="TextBox 11"/>
          <p:cNvSpPr txBox="1"/>
          <p:nvPr/>
        </p:nvSpPr>
        <p:spPr>
          <a:xfrm>
            <a:off x="609600" y="3129915"/>
            <a:ext cx="527685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A named team on a monthly retainer, working your roadmap as priorities shift.</a:t>
            </a:r>
          </a:p>
        </p:txBody>
      </p:sp>
      <p:sp>
        <p:nvSpPr>
          <p:cNvPr id="13" name="Rectangle 12"/>
          <p:cNvSpPr/>
          <p:nvPr/>
        </p:nvSpPr>
        <p:spPr>
          <a:xfrm>
            <a:off x="609600" y="3402330"/>
            <a:ext cx="5276850" cy="7144"/>
          </a:xfrm>
          <a:prstGeom prst="rect">
            <a:avLst/>
          </a:prstGeom>
          <a:solidFill>
            <a:srgbClr val="F0EFF7"/>
          </a:solidFill>
          <a:ln>
            <a:noFill/>
          </a:ln>
          <a:effectLst/>
        </p:spPr>
        <p:txBody>
          <a:bodyPr rtlCol="0" anchor="ctr" wrap="square"/>
          <a:lstStyle/>
          <a:p>
            <a:pPr algn="ctr"/>
          </a:p>
        </p:txBody>
      </p:sp>
      <p:sp>
        <p:nvSpPr>
          <p:cNvPr id="14" name="TextBox 13"/>
          <p:cNvSpPr txBox="1"/>
          <p:nvPr/>
        </p:nvSpPr>
        <p:spPr>
          <a:xfrm>
            <a:off x="609600" y="3497580"/>
            <a:ext cx="527685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Staff augmentation</a:t>
            </a:r>
          </a:p>
        </p:txBody>
      </p:sp>
      <p:sp>
        <p:nvSpPr>
          <p:cNvPr id="15" name="TextBox 14"/>
          <p:cNvSpPr txBox="1"/>
          <p:nvPr/>
        </p:nvSpPr>
        <p:spPr>
          <a:xfrm>
            <a:off x="609600" y="3707130"/>
            <a:ext cx="527685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Senior AI, data and full-stack engineers embedded in your existing team.</a:t>
            </a:r>
          </a:p>
        </p:txBody>
      </p:sp>
      <p:sp>
        <p:nvSpPr>
          <p:cNvPr id="16" name="Rectangle 15"/>
          <p:cNvSpPr/>
          <p:nvPr/>
        </p:nvSpPr>
        <p:spPr>
          <a:xfrm>
            <a:off x="609600" y="3979545"/>
            <a:ext cx="5276850" cy="7144"/>
          </a:xfrm>
          <a:prstGeom prst="rect">
            <a:avLst/>
          </a:prstGeom>
          <a:solidFill>
            <a:srgbClr val="F0EFF7"/>
          </a:solidFill>
          <a:ln>
            <a:noFill/>
          </a:ln>
          <a:effectLst/>
        </p:spPr>
        <p:txBody>
          <a:bodyPr rtlCol="0" anchor="ctr" wrap="square"/>
          <a:lstStyle/>
          <a:p>
            <a:pPr algn="ctr"/>
          </a:p>
        </p:txBody>
      </p:sp>
      <p:sp>
        <p:nvSpPr>
          <p:cNvPr id="17" name="TextBox 16"/>
          <p:cNvSpPr txBox="1"/>
          <p:nvPr/>
        </p:nvSpPr>
        <p:spPr>
          <a:xfrm>
            <a:off x="609600" y="4074795"/>
            <a:ext cx="527685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Managed support &amp; SLA</a:t>
            </a:r>
          </a:p>
        </p:txBody>
      </p:sp>
      <p:sp>
        <p:nvSpPr>
          <p:cNvPr id="18" name="TextBox 17"/>
          <p:cNvSpPr txBox="1"/>
          <p:nvPr/>
        </p:nvSpPr>
        <p:spPr>
          <a:xfrm>
            <a:off x="609600" y="4284345"/>
            <a:ext cx="527685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We operate what we built — or what someone else built — under an agreed response SLA.</a:t>
            </a:r>
          </a:p>
        </p:txBody>
      </p:sp>
      <p:sp>
        <p:nvSpPr>
          <p:cNvPr id="19" name="Rectangle 18"/>
          <p:cNvSpPr/>
          <p:nvPr/>
        </p:nvSpPr>
        <p:spPr>
          <a:xfrm>
            <a:off x="609600" y="4556760"/>
            <a:ext cx="5276850" cy="7144"/>
          </a:xfrm>
          <a:prstGeom prst="rect">
            <a:avLst/>
          </a:prstGeom>
          <a:solidFill>
            <a:srgbClr val="F0EFF7"/>
          </a:solidFill>
          <a:ln>
            <a:noFill/>
          </a:ln>
          <a:effectLst/>
        </p:spPr>
        <p:txBody>
          <a:bodyPr rtlCol="0" anchor="ctr" wrap="square"/>
          <a:lstStyle/>
          <a:p>
            <a:pPr algn="ctr"/>
          </a:p>
        </p:txBody>
      </p:sp>
      <p:sp>
        <p:nvSpPr>
          <p:cNvPr id="20" name="TextBox 19"/>
          <p:cNvSpPr txBox="1"/>
          <p:nvPr/>
        </p:nvSpPr>
        <p:spPr>
          <a:xfrm>
            <a:off x="6286500" y="2019300"/>
            <a:ext cx="52959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WHAT SUPPORT INCLUDES</a:t>
            </a:r>
          </a:p>
        </p:txBody>
      </p:sp>
      <p:sp>
        <p:nvSpPr>
          <p:cNvPr id="21" name="Rectangle 20"/>
          <p:cNvSpPr/>
          <p:nvPr/>
        </p:nvSpPr>
        <p:spPr>
          <a:xfrm>
            <a:off x="6286500" y="2209800"/>
            <a:ext cx="5295900" cy="14288"/>
          </a:xfrm>
          <a:prstGeom prst="rect">
            <a:avLst/>
          </a:prstGeom>
          <a:solidFill>
            <a:srgbClr val="D8CFF8"/>
          </a:solidFill>
          <a:ln>
            <a:noFill/>
          </a:ln>
          <a:effectLst/>
        </p:spPr>
        <p:txBody>
          <a:bodyPr rtlCol="0" anchor="ctr" wrap="square"/>
          <a:lstStyle/>
          <a:p>
            <a:pPr algn="ctr"/>
          </a:p>
        </p:txBody>
      </p:sp>
      <p:sp>
        <p:nvSpPr>
          <p:cNvPr id="22" name="TextBox 21"/>
          <p:cNvSpPr txBox="1"/>
          <p:nvPr/>
        </p:nvSpPr>
        <p:spPr>
          <a:xfrm>
            <a:off x="6286500" y="234315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Production monitoring</a:t>
            </a:r>
          </a:p>
        </p:txBody>
      </p:sp>
      <p:sp>
        <p:nvSpPr>
          <p:cNvPr id="23" name="TextBox 22"/>
          <p:cNvSpPr txBox="1"/>
          <p:nvPr/>
        </p:nvSpPr>
        <p:spPr>
          <a:xfrm>
            <a:off x="6286500" y="2552700"/>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Uptime, error and performance monitoring with defined incident response.</a:t>
            </a:r>
          </a:p>
        </p:txBody>
      </p:sp>
      <p:sp>
        <p:nvSpPr>
          <p:cNvPr id="24" name="Rectangle 23"/>
          <p:cNvSpPr/>
          <p:nvPr/>
        </p:nvSpPr>
        <p:spPr>
          <a:xfrm>
            <a:off x="6286500" y="2825115"/>
            <a:ext cx="5295900" cy="7144"/>
          </a:xfrm>
          <a:prstGeom prst="rect">
            <a:avLst/>
          </a:prstGeom>
          <a:solidFill>
            <a:srgbClr val="F0EFF7"/>
          </a:solidFill>
          <a:ln>
            <a:noFill/>
          </a:ln>
          <a:effectLst/>
        </p:spPr>
        <p:txBody>
          <a:bodyPr rtlCol="0" anchor="ctr" wrap="square"/>
          <a:lstStyle/>
          <a:p>
            <a:pPr algn="ctr"/>
          </a:p>
        </p:txBody>
      </p:sp>
      <p:sp>
        <p:nvSpPr>
          <p:cNvPr id="25" name="TextBox 24"/>
          <p:cNvSpPr txBox="1"/>
          <p:nvPr/>
        </p:nvSpPr>
        <p:spPr>
          <a:xfrm>
            <a:off x="6286500" y="2920365"/>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Model health</a:t>
            </a:r>
          </a:p>
        </p:txBody>
      </p:sp>
      <p:sp>
        <p:nvSpPr>
          <p:cNvPr id="26" name="TextBox 25"/>
          <p:cNvSpPr txBox="1"/>
          <p:nvPr/>
        </p:nvSpPr>
        <p:spPr>
          <a:xfrm>
            <a:off x="6286500" y="3129915"/>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Drift detection, evaluation on live data, and a scheduled retraining cadence.</a:t>
            </a:r>
          </a:p>
        </p:txBody>
      </p:sp>
      <p:sp>
        <p:nvSpPr>
          <p:cNvPr id="27" name="Rectangle 26"/>
          <p:cNvSpPr/>
          <p:nvPr/>
        </p:nvSpPr>
        <p:spPr>
          <a:xfrm>
            <a:off x="6286500" y="3402330"/>
            <a:ext cx="5295900" cy="7144"/>
          </a:xfrm>
          <a:prstGeom prst="rect">
            <a:avLst/>
          </a:prstGeom>
          <a:solidFill>
            <a:srgbClr val="F0EFF7"/>
          </a:solidFill>
          <a:ln>
            <a:noFill/>
          </a:ln>
          <a:effectLst/>
        </p:spPr>
        <p:txBody>
          <a:bodyPr rtlCol="0" anchor="ctr" wrap="square"/>
          <a:lstStyle/>
          <a:p>
            <a:pPr algn="ctr"/>
          </a:p>
        </p:txBody>
      </p:sp>
      <p:sp>
        <p:nvSpPr>
          <p:cNvPr id="28" name="TextBox 27"/>
          <p:cNvSpPr txBox="1"/>
          <p:nvPr/>
        </p:nvSpPr>
        <p:spPr>
          <a:xfrm>
            <a:off x="6286500" y="349758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Security &amp; maintenance</a:t>
            </a:r>
          </a:p>
        </p:txBody>
      </p:sp>
      <p:sp>
        <p:nvSpPr>
          <p:cNvPr id="29" name="TextBox 28"/>
          <p:cNvSpPr txBox="1"/>
          <p:nvPr/>
        </p:nvSpPr>
        <p:spPr>
          <a:xfrm>
            <a:off x="6286500" y="3707130"/>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Dependency patching, vulnerability response, access reviews and backups.</a:t>
            </a:r>
          </a:p>
        </p:txBody>
      </p:sp>
      <p:sp>
        <p:nvSpPr>
          <p:cNvPr id="30" name="Rectangle 29"/>
          <p:cNvSpPr/>
          <p:nvPr/>
        </p:nvSpPr>
        <p:spPr>
          <a:xfrm>
            <a:off x="6286500" y="3979545"/>
            <a:ext cx="5295900" cy="7144"/>
          </a:xfrm>
          <a:prstGeom prst="rect">
            <a:avLst/>
          </a:prstGeom>
          <a:solidFill>
            <a:srgbClr val="F0EFF7"/>
          </a:solidFill>
          <a:ln>
            <a:noFill/>
          </a:ln>
          <a:effectLst/>
        </p:spPr>
        <p:txBody>
          <a:bodyPr rtlCol="0" anchor="ctr" wrap="square"/>
          <a:lstStyle/>
          <a:p>
            <a:pPr algn="ctr"/>
          </a:p>
        </p:txBody>
      </p:sp>
      <p:sp>
        <p:nvSpPr>
          <p:cNvPr id="31" name="TextBox 30"/>
          <p:cNvSpPr txBox="1"/>
          <p:nvPr/>
        </p:nvSpPr>
        <p:spPr>
          <a:xfrm>
            <a:off x="6286500" y="4074795"/>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Cost optimisation</a:t>
            </a:r>
          </a:p>
        </p:txBody>
      </p:sp>
      <p:sp>
        <p:nvSpPr>
          <p:cNvPr id="32" name="TextBox 31"/>
          <p:cNvSpPr txBox="1"/>
          <p:nvPr/>
        </p:nvSpPr>
        <p:spPr>
          <a:xfrm>
            <a:off x="6286500" y="4284345"/>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Inference, storage and cloud spend reviewed and tuned as usage grows.</a:t>
            </a:r>
          </a:p>
        </p:txBody>
      </p:sp>
      <p:sp>
        <p:nvSpPr>
          <p:cNvPr id="33" name="Rectangle 32"/>
          <p:cNvSpPr/>
          <p:nvPr/>
        </p:nvSpPr>
        <p:spPr>
          <a:xfrm>
            <a:off x="6286500" y="4556760"/>
            <a:ext cx="5295900" cy="7144"/>
          </a:xfrm>
          <a:prstGeom prst="rect">
            <a:avLst/>
          </a:prstGeom>
          <a:solidFill>
            <a:srgbClr val="F0EFF7"/>
          </a:solidFill>
          <a:ln>
            <a:noFill/>
          </a:ln>
          <a:effectLst/>
        </p:spPr>
        <p:txBody>
          <a:bodyPr rtlCol="0" anchor="ctr" wrap="square"/>
          <a:lstStyle/>
          <a:p>
            <a:pPr algn="ctr"/>
          </a:p>
        </p:txBody>
      </p:sp>
      <p:sp>
        <p:nvSpPr>
          <p:cNvPr id="34" name="TextBox 33"/>
          <p:cNvSpPr txBox="1"/>
          <p:nvPr/>
        </p:nvSpPr>
        <p:spPr>
          <a:xfrm>
            <a:off x="6286500" y="465201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Enablement</a:t>
            </a:r>
          </a:p>
        </p:txBody>
      </p:sp>
      <p:sp>
        <p:nvSpPr>
          <p:cNvPr id="35" name="TextBox 34"/>
          <p:cNvSpPr txBox="1"/>
          <p:nvPr/>
        </p:nvSpPr>
        <p:spPr>
          <a:xfrm>
            <a:off x="6286500" y="4861560"/>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Documentation, handover and training so your team can run the system themselves.</a:t>
            </a:r>
          </a:p>
        </p:txBody>
      </p:sp>
      <p:sp>
        <p:nvSpPr>
          <p:cNvPr id="36" name="Rectangle 35"/>
          <p:cNvSpPr/>
          <p:nvPr/>
        </p:nvSpPr>
        <p:spPr>
          <a:xfrm>
            <a:off x="6286500" y="5133975"/>
            <a:ext cx="5295900" cy="7144"/>
          </a:xfrm>
          <a:prstGeom prst="rect">
            <a:avLst/>
          </a:prstGeom>
          <a:solidFill>
            <a:srgbClr val="F0EFF7"/>
          </a:solidFill>
          <a:ln>
            <a:noFill/>
          </a:ln>
          <a:effectLst/>
        </p:spPr>
        <p:txBody>
          <a:bodyPr rtlCol="0" anchor="ctr" wrap="square"/>
          <a:lstStyle/>
          <a:p>
            <a:pPr algn="ctr"/>
          </a:p>
        </p:txBody>
      </p:sp>
      <p:sp>
        <p:nvSpPr>
          <p:cNvPr id="37" name="TextBox 36"/>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38" name="TextBox 37"/>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4953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14</a:t>
            </a:r>
          </a:p>
        </p:txBody>
      </p:sp>
      <p:sp>
        <p:nvSpPr>
          <p:cNvPr id="3" name="TextBox 2"/>
          <p:cNvSpPr txBox="1"/>
          <p:nvPr/>
        </p:nvSpPr>
        <p:spPr>
          <a:xfrm>
            <a:off x="609600" y="666750"/>
            <a:ext cx="10972800" cy="514350"/>
          </a:xfrm>
          <a:prstGeom prst="rect">
            <a:avLst/>
          </a:prstGeom>
          <a:noFill/>
        </p:spPr>
        <p:txBody>
          <a:bodyPr wrap="square" lIns="0" rIns="0" tIns="0" bIns="0" anchor="t">
            <a:spAutoFit/>
          </a:bodyPr>
          <a:lstStyle/>
          <a:p>
            <a:pPr>
              <a:lnSpc>
                <a:spcPct val="106000"/>
              </a:lnSpc>
            </a:pPr>
            <a:r>
              <a:rPr sz="2550" b="1">
                <a:solidFill>
                  <a:srgbClr val="0A0A1A"/>
                </a:solidFill>
                <a:latin typeface="Arial"/>
              </a:rPr>
              <a:t>Industries &amp; why clients choose us</a:t>
            </a:r>
          </a:p>
        </p:txBody>
      </p:sp>
      <p:sp>
        <p:nvSpPr>
          <p:cNvPr id="4" name="Rounded Rectangle 3"/>
          <p:cNvSpPr/>
          <p:nvPr/>
        </p:nvSpPr>
        <p:spPr>
          <a:xfrm>
            <a:off x="609600" y="121920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2019300"/>
            <a:ext cx="38100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INDUSTRIES WE SERVE</a:t>
            </a:r>
          </a:p>
        </p:txBody>
      </p:sp>
      <p:sp>
        <p:nvSpPr>
          <p:cNvPr id="6" name="Rectangle 5"/>
          <p:cNvSpPr/>
          <p:nvPr/>
        </p:nvSpPr>
        <p:spPr>
          <a:xfrm>
            <a:off x="609600" y="2209800"/>
            <a:ext cx="3810000" cy="14288"/>
          </a:xfrm>
          <a:prstGeom prst="rect">
            <a:avLst/>
          </a:prstGeom>
          <a:solidFill>
            <a:srgbClr val="D8CFF8"/>
          </a:solidFill>
          <a:ln>
            <a:noFill/>
          </a:ln>
          <a:effectLst/>
        </p:spPr>
        <p:txBody>
          <a:bodyPr rtlCol="0" anchor="ctr" wrap="square"/>
          <a:lstStyle/>
          <a:p>
            <a:pPr algn="ctr"/>
          </a:p>
        </p:txBody>
      </p:sp>
      <p:sp>
        <p:nvSpPr>
          <p:cNvPr id="7" name="Rounded Rectangle 6"/>
          <p:cNvSpPr/>
          <p:nvPr/>
        </p:nvSpPr>
        <p:spPr>
          <a:xfrm>
            <a:off x="609600" y="2400300"/>
            <a:ext cx="1988820"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Healthcare &amp; clinical trials</a:t>
            </a:r>
          </a:p>
        </p:txBody>
      </p:sp>
      <p:sp>
        <p:nvSpPr>
          <p:cNvPr id="8" name="Rounded Rectangle 7"/>
          <p:cNvSpPr/>
          <p:nvPr/>
        </p:nvSpPr>
        <p:spPr>
          <a:xfrm>
            <a:off x="609600" y="2762250"/>
            <a:ext cx="2177415"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Rail &amp; transport infrastructure</a:t>
            </a:r>
          </a:p>
        </p:txBody>
      </p:sp>
      <p:sp>
        <p:nvSpPr>
          <p:cNvPr id="9" name="Rounded Rectangle 8"/>
          <p:cNvSpPr/>
          <p:nvPr/>
        </p:nvSpPr>
        <p:spPr>
          <a:xfrm>
            <a:off x="2863215" y="2762250"/>
            <a:ext cx="1360170"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Drone &amp; geospatial</a:t>
            </a:r>
          </a:p>
        </p:txBody>
      </p:sp>
      <p:sp>
        <p:nvSpPr>
          <p:cNvPr id="10" name="Rounded Rectangle 9"/>
          <p:cNvSpPr/>
          <p:nvPr/>
        </p:nvSpPr>
        <p:spPr>
          <a:xfrm>
            <a:off x="609600" y="3124200"/>
            <a:ext cx="1611630"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Robotics &amp; physical AI</a:t>
            </a:r>
          </a:p>
        </p:txBody>
      </p:sp>
      <p:sp>
        <p:nvSpPr>
          <p:cNvPr id="11" name="Rounded Rectangle 10"/>
          <p:cNvSpPr/>
          <p:nvPr/>
        </p:nvSpPr>
        <p:spPr>
          <a:xfrm>
            <a:off x="2297430" y="3124200"/>
            <a:ext cx="1988820"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Financial services &amp; fintech</a:t>
            </a:r>
          </a:p>
        </p:txBody>
      </p:sp>
      <p:sp>
        <p:nvSpPr>
          <p:cNvPr id="12" name="Rounded Rectangle 11"/>
          <p:cNvSpPr/>
          <p:nvPr/>
        </p:nvSpPr>
        <p:spPr>
          <a:xfrm>
            <a:off x="609600" y="3486150"/>
            <a:ext cx="2114550"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B2B SaaS &amp; enterprise software</a:t>
            </a:r>
          </a:p>
        </p:txBody>
      </p:sp>
      <p:sp>
        <p:nvSpPr>
          <p:cNvPr id="13" name="Rounded Rectangle 12"/>
          <p:cNvSpPr/>
          <p:nvPr/>
        </p:nvSpPr>
        <p:spPr>
          <a:xfrm>
            <a:off x="609600" y="3848100"/>
            <a:ext cx="1988820" cy="285750"/>
          </a:xfrm>
          <a:prstGeom prst="roundRect">
            <a:avLst>
              <a:gd name="adj" fmla="val 50000"/>
            </a:avLst>
          </a:prstGeom>
          <a:solidFill>
            <a:srgbClr val="FBFAFE"/>
          </a:solidFill>
          <a:ln w="13970">
            <a:solidFill>
              <a:srgbClr val="D8CFF8"/>
            </a:solidFill>
          </a:ln>
          <a:effectLst/>
        </p:spPr>
        <p:txBody>
          <a:bodyPr rtlCol="0" anchor="ctr" wrap="square" lIns="0" rIns="0" tIns="0" bIns="0"/>
          <a:lstStyle/>
          <a:p>
            <a:pPr algn="ctr">
              <a:lnSpc>
                <a:spcPct val="135000"/>
              </a:lnSpc>
            </a:pPr>
            <a:r>
              <a:rPr sz="900" b="0">
                <a:solidFill>
                  <a:srgbClr val="7C3AED"/>
                </a:solidFill>
                <a:latin typeface="Arial"/>
              </a:rPr>
              <a:t>Construction &amp; home services</a:t>
            </a:r>
          </a:p>
        </p:txBody>
      </p:sp>
      <p:sp>
        <p:nvSpPr>
          <p:cNvPr id="14" name="TextBox 13"/>
          <p:cNvSpPr txBox="1"/>
          <p:nvPr/>
        </p:nvSpPr>
        <p:spPr>
          <a:xfrm>
            <a:off x="609600" y="4343400"/>
            <a:ext cx="3810000" cy="228600"/>
          </a:xfrm>
          <a:prstGeom prst="rect">
            <a:avLst/>
          </a:prstGeom>
          <a:noFill/>
        </p:spPr>
        <p:txBody>
          <a:bodyPr wrap="square" lIns="0" rIns="0" tIns="0" bIns="0" anchor="t">
            <a:spAutoFit/>
          </a:bodyPr>
          <a:lstStyle/>
          <a:p>
            <a:pPr>
              <a:lnSpc>
                <a:spcPct val="135000"/>
              </a:lnSpc>
            </a:pPr>
            <a:r>
              <a:rPr sz="885" b="0">
                <a:solidFill>
                  <a:srgbClr val="64648A"/>
                </a:solidFill>
                <a:latin typeface="Arial"/>
              </a:rPr>
              <a:t>From early-stage startups to established enterprises.</a:t>
            </a:r>
          </a:p>
        </p:txBody>
      </p:sp>
      <p:sp>
        <p:nvSpPr>
          <p:cNvPr id="15" name="TextBox 14"/>
          <p:cNvSpPr txBox="1"/>
          <p:nvPr/>
        </p:nvSpPr>
        <p:spPr>
          <a:xfrm>
            <a:off x="6286500" y="2019300"/>
            <a:ext cx="5295900" cy="152400"/>
          </a:xfrm>
          <a:prstGeom prst="rect">
            <a:avLst/>
          </a:prstGeom>
          <a:noFill/>
        </p:spPr>
        <p:txBody>
          <a:bodyPr wrap="square" lIns="0" rIns="0" tIns="0" bIns="0" anchor="t">
            <a:spAutoFit/>
          </a:bodyPr>
          <a:lstStyle/>
          <a:p>
            <a:pPr>
              <a:lnSpc>
                <a:spcPct val="135000"/>
              </a:lnSpc>
            </a:pPr>
            <a:r>
              <a:rPr sz="637" b="1" spc="120">
                <a:solidFill>
                  <a:srgbClr val="7C3AED"/>
                </a:solidFill>
                <a:latin typeface="Courier New"/>
              </a:rPr>
              <a:t>WHY CLIENTS CHOOSE US</a:t>
            </a:r>
          </a:p>
        </p:txBody>
      </p:sp>
      <p:sp>
        <p:nvSpPr>
          <p:cNvPr id="16" name="Rectangle 15"/>
          <p:cNvSpPr/>
          <p:nvPr/>
        </p:nvSpPr>
        <p:spPr>
          <a:xfrm>
            <a:off x="6286500" y="2209800"/>
            <a:ext cx="5295900" cy="14288"/>
          </a:xfrm>
          <a:prstGeom prst="rect">
            <a:avLst/>
          </a:prstGeom>
          <a:solidFill>
            <a:srgbClr val="D8CFF8"/>
          </a:solidFill>
          <a:ln>
            <a:noFill/>
          </a:ln>
          <a:effectLst/>
        </p:spPr>
        <p:txBody>
          <a:bodyPr rtlCol="0" anchor="ctr" wrap="square"/>
          <a:lstStyle/>
          <a:p>
            <a:pPr algn="ctr"/>
          </a:p>
        </p:txBody>
      </p:sp>
      <p:sp>
        <p:nvSpPr>
          <p:cNvPr id="17" name="TextBox 16"/>
          <p:cNvSpPr txBox="1"/>
          <p:nvPr/>
        </p:nvSpPr>
        <p:spPr>
          <a:xfrm>
            <a:off x="6286500" y="234315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End-to-end ownership</a:t>
            </a:r>
          </a:p>
        </p:txBody>
      </p:sp>
      <p:sp>
        <p:nvSpPr>
          <p:cNvPr id="18" name="TextBox 17"/>
          <p:cNvSpPr txBox="1"/>
          <p:nvPr/>
        </p:nvSpPr>
        <p:spPr>
          <a:xfrm>
            <a:off x="6286500" y="2552700"/>
            <a:ext cx="5295900" cy="411480"/>
          </a:xfrm>
          <a:prstGeom prst="rect">
            <a:avLst/>
          </a:prstGeom>
          <a:noFill/>
        </p:spPr>
        <p:txBody>
          <a:bodyPr wrap="square" lIns="0" rIns="0" tIns="0" bIns="0" anchor="t">
            <a:spAutoFit/>
          </a:bodyPr>
          <a:lstStyle/>
          <a:p>
            <a:pPr>
              <a:lnSpc>
                <a:spcPct val="150000"/>
              </a:lnSpc>
            </a:pPr>
            <a:r>
              <a:rPr sz="930" b="0">
                <a:solidFill>
                  <a:srgbClr val="64648A"/>
                </a:solidFill>
                <a:latin typeface="Arial"/>
              </a:rPr>
              <a:t>Raw data to deployed product, with no hand-off gap between strategy, data and engineering.</a:t>
            </a:r>
          </a:p>
        </p:txBody>
      </p:sp>
      <p:sp>
        <p:nvSpPr>
          <p:cNvPr id="19" name="Rectangle 18"/>
          <p:cNvSpPr/>
          <p:nvPr/>
        </p:nvSpPr>
        <p:spPr>
          <a:xfrm>
            <a:off x="6286500" y="3002280"/>
            <a:ext cx="5295900" cy="7144"/>
          </a:xfrm>
          <a:prstGeom prst="rect">
            <a:avLst/>
          </a:prstGeom>
          <a:solidFill>
            <a:srgbClr val="F0EFF7"/>
          </a:solidFill>
          <a:ln>
            <a:noFill/>
          </a:ln>
          <a:effectLst/>
        </p:spPr>
        <p:txBody>
          <a:bodyPr rtlCol="0" anchor="ctr" wrap="square"/>
          <a:lstStyle/>
          <a:p>
            <a:pPr algn="ctr"/>
          </a:p>
        </p:txBody>
      </p:sp>
      <p:sp>
        <p:nvSpPr>
          <p:cNvPr id="20" name="TextBox 19"/>
          <p:cNvSpPr txBox="1"/>
          <p:nvPr/>
        </p:nvSpPr>
        <p:spPr>
          <a:xfrm>
            <a:off x="6286500" y="309753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Regulated-domain experience</a:t>
            </a:r>
          </a:p>
        </p:txBody>
      </p:sp>
      <p:sp>
        <p:nvSpPr>
          <p:cNvPr id="21" name="TextBox 20"/>
          <p:cNvSpPr txBox="1"/>
          <p:nvPr/>
        </p:nvSpPr>
        <p:spPr>
          <a:xfrm>
            <a:off x="6286500" y="3307080"/>
            <a:ext cx="5295900" cy="411480"/>
          </a:xfrm>
          <a:prstGeom prst="rect">
            <a:avLst/>
          </a:prstGeom>
          <a:noFill/>
        </p:spPr>
        <p:txBody>
          <a:bodyPr wrap="square" lIns="0" rIns="0" tIns="0" bIns="0" anchor="t">
            <a:spAutoFit/>
          </a:bodyPr>
          <a:lstStyle/>
          <a:p>
            <a:pPr>
              <a:lnSpc>
                <a:spcPct val="150000"/>
              </a:lnSpc>
            </a:pPr>
            <a:r>
              <a:rPr sz="930" b="0">
                <a:solidFill>
                  <a:srgbClr val="64648A"/>
                </a:solidFill>
                <a:latin typeface="Arial"/>
              </a:rPr>
              <a:t>We have built to 21 CFR Part 11 with tamper-evident audit trails and electronic signatures.</a:t>
            </a:r>
          </a:p>
        </p:txBody>
      </p:sp>
      <p:sp>
        <p:nvSpPr>
          <p:cNvPr id="22" name="Rectangle 21"/>
          <p:cNvSpPr/>
          <p:nvPr/>
        </p:nvSpPr>
        <p:spPr>
          <a:xfrm>
            <a:off x="6286500" y="3756660"/>
            <a:ext cx="5295900" cy="7144"/>
          </a:xfrm>
          <a:prstGeom prst="rect">
            <a:avLst/>
          </a:prstGeom>
          <a:solidFill>
            <a:srgbClr val="F0EFF7"/>
          </a:solidFill>
          <a:ln>
            <a:noFill/>
          </a:ln>
          <a:effectLst/>
        </p:spPr>
        <p:txBody>
          <a:bodyPr rtlCol="0" anchor="ctr" wrap="square"/>
          <a:lstStyle/>
          <a:p>
            <a:pPr algn="ctr"/>
          </a:p>
        </p:txBody>
      </p:sp>
      <p:sp>
        <p:nvSpPr>
          <p:cNvPr id="23" name="TextBox 22"/>
          <p:cNvSpPr txBox="1"/>
          <p:nvPr/>
        </p:nvSpPr>
        <p:spPr>
          <a:xfrm>
            <a:off x="6286500" y="385191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Senior plus scale</a:t>
            </a:r>
          </a:p>
        </p:txBody>
      </p:sp>
      <p:sp>
        <p:nvSpPr>
          <p:cNvPr id="24" name="TextBox 23"/>
          <p:cNvSpPr txBox="1"/>
          <p:nvPr/>
        </p:nvSpPr>
        <p:spPr>
          <a:xfrm>
            <a:off x="6286500" y="4061460"/>
            <a:ext cx="5295900" cy="411480"/>
          </a:xfrm>
          <a:prstGeom prst="rect">
            <a:avLst/>
          </a:prstGeom>
          <a:noFill/>
        </p:spPr>
        <p:txBody>
          <a:bodyPr wrap="square" lIns="0" rIns="0" tIns="0" bIns="0" anchor="t">
            <a:spAutoFit/>
          </a:bodyPr>
          <a:lstStyle/>
          <a:p>
            <a:pPr>
              <a:lnSpc>
                <a:spcPct val="150000"/>
              </a:lnSpc>
            </a:pPr>
            <a:r>
              <a:rPr sz="930" b="0">
                <a:solidFill>
                  <a:srgbClr val="64648A"/>
                </a:solidFill>
                <a:latin typeface="Arial"/>
              </a:rPr>
              <a:t>US and Europe based architects, with a deep India engineering and data bench behind them.</a:t>
            </a:r>
          </a:p>
        </p:txBody>
      </p:sp>
      <p:sp>
        <p:nvSpPr>
          <p:cNvPr id="25" name="Rectangle 24"/>
          <p:cNvSpPr/>
          <p:nvPr/>
        </p:nvSpPr>
        <p:spPr>
          <a:xfrm>
            <a:off x="6286500" y="4511040"/>
            <a:ext cx="5295900" cy="7144"/>
          </a:xfrm>
          <a:prstGeom prst="rect">
            <a:avLst/>
          </a:prstGeom>
          <a:solidFill>
            <a:srgbClr val="F0EFF7"/>
          </a:solidFill>
          <a:ln>
            <a:noFill/>
          </a:ln>
          <a:effectLst/>
        </p:spPr>
        <p:txBody>
          <a:bodyPr rtlCol="0" anchor="ctr" wrap="square"/>
          <a:lstStyle/>
          <a:p>
            <a:pPr algn="ctr"/>
          </a:p>
        </p:txBody>
      </p:sp>
      <p:sp>
        <p:nvSpPr>
          <p:cNvPr id="26" name="TextBox 25"/>
          <p:cNvSpPr txBox="1"/>
          <p:nvPr/>
        </p:nvSpPr>
        <p:spPr>
          <a:xfrm>
            <a:off x="6286500" y="4606290"/>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Production-first</a:t>
            </a:r>
          </a:p>
        </p:txBody>
      </p:sp>
      <p:sp>
        <p:nvSpPr>
          <p:cNvPr id="27" name="TextBox 26"/>
          <p:cNvSpPr txBox="1"/>
          <p:nvPr/>
        </p:nvSpPr>
        <p:spPr>
          <a:xfrm>
            <a:off x="6286500" y="4815840"/>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Monitored systems running in production — not proofs of concept that stall at the demo.</a:t>
            </a:r>
          </a:p>
        </p:txBody>
      </p:sp>
      <p:sp>
        <p:nvSpPr>
          <p:cNvPr id="28" name="Rectangle 27"/>
          <p:cNvSpPr/>
          <p:nvPr/>
        </p:nvSpPr>
        <p:spPr>
          <a:xfrm>
            <a:off x="6286500" y="5088255"/>
            <a:ext cx="5295900" cy="7144"/>
          </a:xfrm>
          <a:prstGeom prst="rect">
            <a:avLst/>
          </a:prstGeom>
          <a:solidFill>
            <a:srgbClr val="F0EFF7"/>
          </a:solidFill>
          <a:ln>
            <a:noFill/>
          </a:ln>
          <a:effectLst/>
        </p:spPr>
        <p:txBody>
          <a:bodyPr rtlCol="0" anchor="ctr" wrap="square"/>
          <a:lstStyle/>
          <a:p>
            <a:pPr algn="ctr"/>
          </a:p>
        </p:txBody>
      </p:sp>
      <p:sp>
        <p:nvSpPr>
          <p:cNvPr id="29" name="TextBox 28"/>
          <p:cNvSpPr txBox="1"/>
          <p:nvPr/>
        </p:nvSpPr>
        <p:spPr>
          <a:xfrm>
            <a:off x="6286500" y="5183505"/>
            <a:ext cx="5295900" cy="190500"/>
          </a:xfrm>
          <a:prstGeom prst="rect">
            <a:avLst/>
          </a:prstGeom>
          <a:noFill/>
        </p:spPr>
        <p:txBody>
          <a:bodyPr wrap="square" lIns="0" rIns="0" tIns="0" bIns="0" anchor="t">
            <a:spAutoFit/>
          </a:bodyPr>
          <a:lstStyle/>
          <a:p>
            <a:pPr>
              <a:lnSpc>
                <a:spcPct val="135000"/>
              </a:lnSpc>
            </a:pPr>
            <a:r>
              <a:rPr sz="1050" b="1">
                <a:solidFill>
                  <a:srgbClr val="0A0A1A"/>
                </a:solidFill>
                <a:latin typeface="Arial"/>
              </a:rPr>
              <a:t>Follow-the-sun delivery</a:t>
            </a:r>
          </a:p>
        </p:txBody>
      </p:sp>
      <p:sp>
        <p:nvSpPr>
          <p:cNvPr id="30" name="TextBox 29"/>
          <p:cNvSpPr txBox="1"/>
          <p:nvPr/>
        </p:nvSpPr>
        <p:spPr>
          <a:xfrm>
            <a:off x="6286500" y="5393055"/>
            <a:ext cx="5295900" cy="234315"/>
          </a:xfrm>
          <a:prstGeom prst="rect">
            <a:avLst/>
          </a:prstGeom>
          <a:noFill/>
        </p:spPr>
        <p:txBody>
          <a:bodyPr wrap="square" lIns="0" rIns="0" tIns="0" bIns="0" anchor="t">
            <a:spAutoFit/>
          </a:bodyPr>
          <a:lstStyle/>
          <a:p>
            <a:pPr>
              <a:lnSpc>
                <a:spcPct val="150000"/>
              </a:lnSpc>
            </a:pPr>
            <a:r>
              <a:rPr sz="930" b="0">
                <a:solidFill>
                  <a:srgbClr val="64648A"/>
                </a:solidFill>
                <a:latin typeface="Arial"/>
              </a:rPr>
              <a:t>Hubs across five countries keep work moving while your team sleeps.</a:t>
            </a:r>
          </a:p>
        </p:txBody>
      </p:sp>
      <p:sp>
        <p:nvSpPr>
          <p:cNvPr id="31" name="Rectangle 30"/>
          <p:cNvSpPr/>
          <p:nvPr/>
        </p:nvSpPr>
        <p:spPr>
          <a:xfrm>
            <a:off x="6286500" y="5665470"/>
            <a:ext cx="5295900" cy="7144"/>
          </a:xfrm>
          <a:prstGeom prst="rect">
            <a:avLst/>
          </a:prstGeom>
          <a:solidFill>
            <a:srgbClr val="F0EFF7"/>
          </a:solidFill>
          <a:ln>
            <a:noFill/>
          </a:ln>
          <a:effectLst/>
        </p:spPr>
        <p:txBody>
          <a:bodyPr rtlCol="0" anchor="ctr" wrap="square"/>
          <a:lstStyle/>
          <a:p>
            <a:pPr algn="ctr"/>
          </a:p>
        </p:txBody>
      </p:sp>
      <p:sp>
        <p:nvSpPr>
          <p:cNvPr id="32" name="TextBox 31"/>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33" name="TextBox 32"/>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66800"/>
            <a:ext cx="10972800" cy="171450"/>
          </a:xfrm>
          <a:prstGeom prst="rect">
            <a:avLst/>
          </a:prstGeom>
          <a:noFill/>
        </p:spPr>
        <p:txBody>
          <a:bodyPr wrap="square" lIns="0" rIns="0" tIns="0" bIns="0" anchor="t">
            <a:spAutoFit/>
          </a:bodyPr>
          <a:lstStyle/>
          <a:p>
            <a:pPr>
              <a:lnSpc>
                <a:spcPct val="135000"/>
              </a:lnSpc>
            </a:pPr>
            <a:r>
              <a:rPr sz="637" b="1" spc="150">
                <a:solidFill>
                  <a:srgbClr val="7C3AED"/>
                </a:solidFill>
                <a:latin typeface="Courier New"/>
              </a:rPr>
              <a:t>LET'S TALK</a:t>
            </a:r>
          </a:p>
        </p:txBody>
      </p:sp>
      <p:sp>
        <p:nvSpPr>
          <p:cNvPr id="3" name="TextBox 2"/>
          <p:cNvSpPr txBox="1"/>
          <p:nvPr/>
        </p:nvSpPr>
        <p:spPr>
          <a:xfrm>
            <a:off x="609600" y="1257300"/>
            <a:ext cx="7810500" cy="571500"/>
          </a:xfrm>
          <a:prstGeom prst="rect">
            <a:avLst/>
          </a:prstGeom>
          <a:noFill/>
        </p:spPr>
        <p:txBody>
          <a:bodyPr wrap="square" lIns="0" rIns="0" tIns="0" bIns="0" anchor="t">
            <a:spAutoFit/>
          </a:bodyPr>
          <a:lstStyle/>
          <a:p>
            <a:pPr>
              <a:lnSpc>
                <a:spcPct val="108000"/>
              </a:lnSpc>
            </a:pPr>
            <a:r>
              <a:rPr sz="3450" b="1">
                <a:solidFill>
                  <a:srgbClr val="0A0A1A"/>
                </a:solidFill>
                <a:latin typeface="Arial"/>
              </a:rPr>
              <a:t>Tell us what you are trying to build</a:t>
            </a:r>
          </a:p>
        </p:txBody>
      </p:sp>
      <p:sp>
        <p:nvSpPr>
          <p:cNvPr id="4" name="Rounded Rectangle 3"/>
          <p:cNvSpPr/>
          <p:nvPr/>
        </p:nvSpPr>
        <p:spPr>
          <a:xfrm>
            <a:off x="609600" y="1924050"/>
            <a:ext cx="514350" cy="28575"/>
          </a:xfrm>
          <a:prstGeom prst="roundRect">
            <a:avLst>
              <a:gd name="adj" fmla="val 50000"/>
            </a:avLst>
          </a:prstGeom>
          <a:solidFill>
            <a:srgbClr val="7C3AED"/>
          </a:solidFill>
          <a:ln>
            <a:noFill/>
          </a:ln>
          <a:effectLst/>
        </p:spPr>
        <p:txBody>
          <a:bodyPr rtlCol="0" anchor="ctr" wrap="square"/>
          <a:lstStyle/>
          <a:p>
            <a:pPr algn="ctr"/>
          </a:p>
        </p:txBody>
      </p:sp>
      <p:sp>
        <p:nvSpPr>
          <p:cNvPr id="5" name="TextBox 4"/>
          <p:cNvSpPr txBox="1"/>
          <p:nvPr/>
        </p:nvSpPr>
        <p:spPr>
          <a:xfrm>
            <a:off x="609600" y="2095500"/>
            <a:ext cx="6477000" cy="571500"/>
          </a:xfrm>
          <a:prstGeom prst="rect">
            <a:avLst/>
          </a:prstGeom>
          <a:noFill/>
        </p:spPr>
        <p:txBody>
          <a:bodyPr wrap="square" lIns="0" rIns="0" tIns="0" bIns="0" anchor="t">
            <a:spAutoFit/>
          </a:bodyPr>
          <a:lstStyle/>
          <a:p>
            <a:pPr>
              <a:lnSpc>
                <a:spcPct val="155000"/>
              </a:lnSpc>
            </a:pPr>
            <a:r>
              <a:rPr sz="1087" b="0">
                <a:solidFill>
                  <a:srgbClr val="64648A"/>
                </a:solidFill>
                <a:latin typeface="Arial"/>
              </a:rPr>
              <a:t>Every engagement starts the same way: a 15-minute scoping call, then a written proposal with scope, timeline and price. No obligation, and no charge for the conversation.</a:t>
            </a:r>
          </a:p>
        </p:txBody>
      </p:sp>
      <p:sp>
        <p:nvSpPr>
          <p:cNvPr id="6" name="Rounded Rectangle 5"/>
          <p:cNvSpPr/>
          <p:nvPr/>
        </p:nvSpPr>
        <p:spPr>
          <a:xfrm>
            <a:off x="609600" y="3028950"/>
            <a:ext cx="5334000" cy="1428750"/>
          </a:xfrm>
          <a:prstGeom prst="roundRect">
            <a:avLst>
              <a:gd name="adj" fmla="val 12000"/>
            </a:avLst>
          </a:prstGeom>
          <a:solidFill>
            <a:srgbClr val="FBFAFE"/>
          </a:solidFill>
          <a:ln w="13970">
            <a:solidFill>
              <a:srgbClr val="D8CFF8"/>
            </a:solidFill>
          </a:ln>
          <a:effectLst/>
        </p:spPr>
        <p:txBody>
          <a:bodyPr rtlCol="0" anchor="ctr" wrap="square"/>
          <a:lstStyle/>
          <a:p>
            <a:pPr algn="ctr"/>
          </a:p>
        </p:txBody>
      </p:sp>
      <p:sp>
        <p:nvSpPr>
          <p:cNvPr id="7" name="TextBox 6"/>
          <p:cNvSpPr txBox="1"/>
          <p:nvPr/>
        </p:nvSpPr>
        <p:spPr>
          <a:xfrm>
            <a:off x="933450" y="3314700"/>
            <a:ext cx="4762500" cy="266700"/>
          </a:xfrm>
          <a:prstGeom prst="rect">
            <a:avLst/>
          </a:prstGeom>
          <a:noFill/>
        </p:spPr>
        <p:txBody>
          <a:bodyPr wrap="square" lIns="0" rIns="0" tIns="0" bIns="0" anchor="t">
            <a:spAutoFit/>
          </a:bodyPr>
          <a:lstStyle/>
          <a:p>
            <a:pPr>
              <a:lnSpc>
                <a:spcPct val="135000"/>
              </a:lnSpc>
            </a:pPr>
            <a:r>
              <a:rPr sz="1425" b="1">
                <a:solidFill>
                  <a:srgbClr val="0A0A1A"/>
                </a:solidFill>
                <a:latin typeface="Arial"/>
              </a:rPr>
              <a:t>Ashish Tyagi — Founder &amp; CEO</a:t>
            </a:r>
          </a:p>
        </p:txBody>
      </p:sp>
      <p:sp>
        <p:nvSpPr>
          <p:cNvPr id="8" name="TextBox 7"/>
          <p:cNvSpPr txBox="1"/>
          <p:nvPr/>
        </p:nvSpPr>
        <p:spPr>
          <a:xfrm>
            <a:off x="933450" y="3695700"/>
            <a:ext cx="4762500" cy="209550"/>
          </a:xfrm>
          <a:prstGeom prst="rect">
            <a:avLst/>
          </a:prstGeom>
          <a:noFill/>
        </p:spPr>
        <p:txBody>
          <a:bodyPr wrap="square" lIns="0" rIns="0" tIns="0" bIns="0" anchor="t">
            <a:spAutoFit/>
          </a:bodyPr>
          <a:lstStyle/>
          <a:p>
            <a:pPr>
              <a:lnSpc>
                <a:spcPct val="135000"/>
              </a:lnSpc>
            </a:pPr>
            <a:r>
              <a:rPr sz="937" b="0" spc="40">
                <a:solidFill>
                  <a:srgbClr val="4F46E5"/>
                </a:solidFill>
                <a:latin typeface="Courier New"/>
              </a:rPr>
              <a:t>hello@trinly.us  ·  hello@artsync.live</a:t>
            </a:r>
          </a:p>
        </p:txBody>
      </p:sp>
      <p:sp>
        <p:nvSpPr>
          <p:cNvPr id="9" name="TextBox 8"/>
          <p:cNvSpPr txBox="1"/>
          <p:nvPr/>
        </p:nvSpPr>
        <p:spPr>
          <a:xfrm>
            <a:off x="933450" y="3962400"/>
            <a:ext cx="4762500" cy="209550"/>
          </a:xfrm>
          <a:prstGeom prst="rect">
            <a:avLst/>
          </a:prstGeom>
          <a:noFill/>
        </p:spPr>
        <p:txBody>
          <a:bodyPr wrap="square" lIns="0" rIns="0" tIns="0" bIns="0" anchor="t">
            <a:spAutoFit/>
          </a:bodyPr>
          <a:lstStyle/>
          <a:p>
            <a:pPr>
              <a:lnSpc>
                <a:spcPct val="135000"/>
              </a:lnSpc>
            </a:pPr>
            <a:r>
              <a:rPr sz="862" b="0" spc="40">
                <a:solidFill>
                  <a:srgbClr val="64648A"/>
                </a:solidFill>
                <a:latin typeface="Courier New"/>
              </a:rPr>
              <a:t>US +1 919 578 4944  ·  IN +91 84484 12144</a:t>
            </a:r>
          </a:p>
        </p:txBody>
      </p:sp>
      <p:sp>
        <p:nvSpPr>
          <p:cNvPr id="10" name="TextBox 9"/>
          <p:cNvSpPr txBox="1"/>
          <p:nvPr/>
        </p:nvSpPr>
        <p:spPr>
          <a:xfrm>
            <a:off x="609600" y="6515100"/>
            <a:ext cx="6667500" cy="133350"/>
          </a:xfrm>
          <a:prstGeom prst="rect">
            <a:avLst/>
          </a:prstGeom>
          <a:noFill/>
        </p:spPr>
        <p:txBody>
          <a:bodyPr wrap="square" lIns="0" rIns="0" tIns="0" bIns="0" anchor="t">
            <a:spAutoFit/>
          </a:bodyPr>
          <a:lstStyle/>
          <a:p>
            <a:pPr>
              <a:lnSpc>
                <a:spcPct val="135000"/>
              </a:lnSpc>
            </a:pPr>
            <a:r>
              <a:rPr sz="712" b="0">
                <a:solidFill>
                  <a:srgbClr val="A0A0B8"/>
                </a:solidFill>
                <a:latin typeface="Courier New"/>
              </a:rPr>
              <a:t>Trinly · ArtSync India — Work Portfolio · trinly.us · artsync.live</a:t>
            </a:r>
          </a:p>
        </p:txBody>
      </p:sp>
      <p:sp>
        <p:nvSpPr>
          <p:cNvPr id="11" name="TextBox 10"/>
          <p:cNvSpPr txBox="1"/>
          <p:nvPr/>
        </p:nvSpPr>
        <p:spPr>
          <a:xfrm>
            <a:off x="10439400" y="6515100"/>
            <a:ext cx="1143000" cy="133350"/>
          </a:xfrm>
          <a:prstGeom prst="rect">
            <a:avLst/>
          </a:prstGeom>
          <a:noFill/>
        </p:spPr>
        <p:txBody>
          <a:bodyPr wrap="square" lIns="0" rIns="0" tIns="0" bIns="0" anchor="t">
            <a:spAutoFit/>
          </a:bodyPr>
          <a:lstStyle/>
          <a:p>
            <a:pPr algn="r">
              <a:lnSpc>
                <a:spcPct val="135000"/>
              </a:lnSpc>
            </a:pPr>
            <a:r>
              <a:rPr sz="712" b="0">
                <a:solidFill>
                  <a:srgbClr val="7C3AED"/>
                </a:solidFill>
                <a:latin typeface="Courier New"/>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Trinly × ArtSync — Work Portfolio</dc:title>
  <dc:subject/>
  <dc:creator>Ashish Tyagi — Founder &amp; CEO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